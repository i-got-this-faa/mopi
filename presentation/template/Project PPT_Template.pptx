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notesMasterIdLst>
    <p:notesMasterId r:id="rId10"/>
  </p:notesMasterIdLst>
  <p:sldIdLst>
    <p:sldId id="379" r:id="rId2"/>
    <p:sldId id="513" r:id="rId3"/>
    <p:sldId id="317" r:id="rId4"/>
    <p:sldId id="514" r:id="rId5"/>
    <p:sldId id="516" r:id="rId6"/>
    <p:sldId id="518" r:id="rId7"/>
    <p:sldId id="517" r:id="rId8"/>
    <p:sldId id="260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94041" autoAdjust="0"/>
  </p:normalViewPr>
  <p:slideViewPr>
    <p:cSldViewPr snapToGrid="0">
      <p:cViewPr varScale="1">
        <p:scale>
          <a:sx n="104" d="100"/>
          <a:sy n="104" d="100"/>
        </p:scale>
        <p:origin x="226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C18445B-3D83-48F8-8074-7A945437CE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CF11-2565-4585-B14D-DE65C8B338D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5D7F702-C849-4981-AD7E-916FA0F2FB34}" type="datetimeFigureOut">
              <a:rPr lang="en-US"/>
              <a:pPr>
                <a:defRPr/>
              </a:pPr>
              <a:t>5/21/2025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EBBC463-3244-48B7-9B27-FE9395C461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410931D-B801-4759-8B55-646BB45BD9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9E9F1-013D-4E40-8E40-E44D90C541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E0D85-C464-4273-89B9-031AFAC5E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850892F-F9FC-456A-BEE2-9EDE45E6D0B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730125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010EEB2E-AD9B-413B-B6C3-EB5E837820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94E90F94-B400-4281-83AE-CCE5888FF2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Presentation slide for courses, classes, lectures et al. 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1627386B-90AB-4EC7-BBB6-8EBBD1B3E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D71760B-D2A6-42F8-B9C5-E0C097D11814}" type="slidenum">
              <a:rPr lang="en-US">
                <a:solidFill>
                  <a:prstClr val="black"/>
                </a:solidFill>
                <a:latin typeface="Calibri"/>
                <a:cs typeface="+mn-cs"/>
              </a:rPr>
              <a:pPr>
                <a:defRPr/>
              </a:pPr>
              <a:t>1</a:t>
            </a:fld>
            <a:endParaRPr lang="en-US">
              <a:solidFill>
                <a:prstClr val="black"/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9046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50892F-F9FC-456A-BEE2-9EDE45E6D0B8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71325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BEFB50-DFDB-433B-8285-DB86B5D0C070}"/>
              </a:ext>
            </a:extLst>
          </p:cNvPr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30C425-27A5-40AA-961A-8CFDE17FA4DD}"/>
              </a:ext>
            </a:extLst>
          </p:cNvPr>
          <p:cNvSpPr/>
          <p:nvPr/>
        </p:nvSpPr>
        <p:spPr>
          <a:xfrm>
            <a:off x="-9525" y="6053139"/>
            <a:ext cx="2249091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71B3EE-07D3-40CD-A5C9-E7B6A7D3EB55}"/>
              </a:ext>
            </a:extLst>
          </p:cNvPr>
          <p:cNvSpPr/>
          <p:nvPr/>
        </p:nvSpPr>
        <p:spPr>
          <a:xfrm>
            <a:off x="2358628" y="6043614"/>
            <a:ext cx="6785372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50">
                <a:solidFill>
                  <a:srgbClr val="FFFFFF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3733BC89-84AA-4433-89FB-B7A7E5D13F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9FDA555-E7D0-42F0-AC4C-4811C25EA4F9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52B60891-0B66-4CA7-88CB-DE5EC0A18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85975" y="236539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CBE7F8AC-DBDA-417F-981D-F15B3426B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8247BE2-61CD-463C-AD78-643FCA7B2A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426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D23AF-71EC-4251-B17F-BDD25760D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A5EB19C7-A313-4953-8844-CFDFBDB67712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A2D69-AA10-4583-9E8F-0A4D9446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E2A9D-5CE7-4FA5-BC28-FB271F754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8BBDA1B-EB2C-49E2-A1CF-4342CA4EF3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230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230AD3-0C7A-45F5-A43D-9C62B1FE456E}"/>
              </a:ext>
            </a:extLst>
          </p:cNvPr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57C25B-6FC9-4FB2-9E6E-4912144234FE}"/>
              </a:ext>
            </a:extLst>
          </p:cNvPr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C32344-6E1C-4BEB-B4E3-5CFAA72A62DD}"/>
              </a:ext>
            </a:extLst>
          </p:cNvPr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2743200"/>
            <a:ext cx="7123113" cy="1673225"/>
          </a:xfrm>
        </p:spPr>
        <p:txBody>
          <a:bodyPr/>
          <a:lstStyle>
            <a:lvl1pPr>
              <a:buNone/>
              <a:defRPr sz="2100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33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4E06E9CF-DCA0-4469-9588-146DDA3B6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50DA2-C70C-4FFB-9E2D-CA69753C4E81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8" name="Slide Number Placeholder 12">
            <a:extLst>
              <a:ext uri="{FF2B5EF4-FFF2-40B4-BE49-F238E27FC236}">
                <a16:creationId xmlns:a16="http://schemas.microsoft.com/office/drawing/2014/main" id="{024E1A5F-0041-47BD-AB34-3894313F5A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295400" cy="701675"/>
          </a:xfrm>
        </p:spPr>
        <p:txBody>
          <a:bodyPr>
            <a:noAutofit/>
          </a:bodyPr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66A1CEC-9DD6-4F71-8FF7-224B44B36D7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3F02C43B-73CC-4732-8E2B-39CB4F86C0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3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7">
            <a:extLst>
              <a:ext uri="{FF2B5EF4-FFF2-40B4-BE49-F238E27FC236}">
                <a16:creationId xmlns:a16="http://schemas.microsoft.com/office/drawing/2014/main" id="{38A05C4A-FA42-4D8C-B6A5-0F623E6EB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2A22236-1168-4432-ABC0-6C926F115FB2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675BC25A-D772-4BAD-82C5-8DE60CDA04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D9237E2-D6D8-4F93-B4E7-7A3A919C42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1">
            <a:extLst>
              <a:ext uri="{FF2B5EF4-FFF2-40B4-BE49-F238E27FC236}">
                <a16:creationId xmlns:a16="http://schemas.microsoft.com/office/drawing/2014/main" id="{A359C2BF-21AF-4D80-AF5B-B2C0FCB014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246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>
            <a:extLst>
              <a:ext uri="{FF2B5EF4-FFF2-40B4-BE49-F238E27FC236}">
                <a16:creationId xmlns:a16="http://schemas.microsoft.com/office/drawing/2014/main" id="{31028AF4-9E92-4B7F-8FF5-70E8FC8C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dirty="0"/>
            </a:lvl1pPr>
          </a:lstStyle>
          <a:p>
            <a:pPr>
              <a:defRPr/>
            </a:pPr>
            <a:fld id="{3D2B433E-0492-43EF-A4EE-44302D691569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E1D98D76-29B8-4104-9B56-41E0C2B6C0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4194F72-16B3-45E5-89BA-A531D9C6F90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9ABC4DA1-E98C-46DB-8CFC-528377A9EC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72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9D27DB-781C-4E9A-BD52-304D332D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E7950DC9-D196-45CC-BA9F-D6D5EE325BD5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86506-D8E7-4646-B7C2-4FD747079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53B6E-7646-4B77-8451-44B7A82A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D1442FA-41D6-4256-AB11-698261B17F2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29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D99147-29DF-4A7C-8453-281A248DF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3B4A3-0DFD-4DB7-87BB-BDD024516FD0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37661-D16B-47AD-A3C6-F4279F63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F0016-F045-4EFE-9DBB-8B83615E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A9458CC-7BDB-4AF7-84A8-156B462129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87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sm_globe.png">
            <a:extLst>
              <a:ext uri="{FF2B5EF4-FFF2-40B4-BE49-F238E27FC236}">
                <a16:creationId xmlns:a16="http://schemas.microsoft.com/office/drawing/2014/main" id="{09D0E091-9432-4B8A-83A8-FAA0571AE4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72" y="1755775"/>
            <a:ext cx="1614488" cy="1689100"/>
          </a:xfrm>
          <a:prstGeom prst="rect">
            <a:avLst/>
          </a:prstGeom>
          <a:noFill/>
          <a:ln w="50800" cap="sq" cmpd="dbl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33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A5AAB-E0EE-42C4-9DC4-6495C8701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168CF-9361-4963-AFD4-61E898C8E6D4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74615-F617-433B-BCA5-EEDB193A1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2315F-E1FB-4BBC-9A69-9E76F921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1AC466F-202A-449E-ABD9-88FA7D41381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27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C81B99-AD79-4350-B1B4-4A9A5B2E1411}"/>
              </a:ext>
            </a:extLst>
          </p:cNvPr>
          <p:cNvSpPr/>
          <p:nvPr/>
        </p:nvSpPr>
        <p:spPr bwMode="white">
          <a:xfrm>
            <a:off x="-9525" y="4572001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B30C86-7539-4707-BB1E-130DEE07594C}"/>
              </a:ext>
            </a:extLst>
          </p:cNvPr>
          <p:cNvSpPr/>
          <p:nvPr/>
        </p:nvSpPr>
        <p:spPr>
          <a:xfrm>
            <a:off x="-9525" y="4664075"/>
            <a:ext cx="1463279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3F932B-EE3A-413F-8794-3061763118EA}"/>
              </a:ext>
            </a:extLst>
          </p:cNvPr>
          <p:cNvSpPr/>
          <p:nvPr/>
        </p:nvSpPr>
        <p:spPr>
          <a:xfrm>
            <a:off x="1544241" y="4654550"/>
            <a:ext cx="7599759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ACDC2E-C064-4B1C-9FEF-B25D088F4C9E}"/>
              </a:ext>
            </a:extLst>
          </p:cNvPr>
          <p:cNvSpPr/>
          <p:nvPr/>
        </p:nvSpPr>
        <p:spPr bwMode="white">
          <a:xfrm>
            <a:off x="1447800" y="1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275"/>
            </a:lvl1pPr>
            <a:lvl2pPr>
              <a:buFontTx/>
              <a:buNone/>
              <a:defRPr sz="900"/>
            </a:lvl2pPr>
            <a:lvl3pPr>
              <a:buFontTx/>
              <a:buNone/>
              <a:defRPr sz="750"/>
            </a:lvl3pPr>
            <a:lvl4pPr>
              <a:buFontTx/>
              <a:buNone/>
              <a:defRPr sz="675"/>
            </a:lvl4pPr>
            <a:lvl5pPr>
              <a:buFontTx/>
              <a:buNone/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1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" name="Date Placeholder 11">
            <a:extLst>
              <a:ext uri="{FF2B5EF4-FFF2-40B4-BE49-F238E27FC236}">
                <a16:creationId xmlns:a16="http://schemas.microsoft.com/office/drawing/2014/main" id="{6F6A6835-255E-4F53-B0A2-B0B3683D2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48400" y="6248401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A64BEE4-B63B-4B07-A227-E3BC01DE73A7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32BA4851-7472-4558-AF6A-2F94ED631D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4667251"/>
            <a:ext cx="1447800" cy="663575"/>
          </a:xfrm>
        </p:spPr>
        <p:txBody>
          <a:bodyPr rtlCol="0"/>
          <a:lstStyle>
            <a:lvl1pPr>
              <a:defRPr sz="2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8110B99-22AD-4655-8E97-9D99EF66D4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8C69500C-8063-44CD-BB8C-9F570B8D59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00200" y="6248401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82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49E2AC5C-2BDA-4ED0-A8CA-408672F7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759BA1-3B3D-49D7-B679-4527783122F8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9DD99E1-9A49-4EB3-9467-57A67F5F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2BB8BDF-113A-4D93-A64B-0BF6D345E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720B14-E841-43C9-B349-AC4B576B0B80}" type="slidenum">
              <a:rPr lang="en-US"/>
              <a:pPr>
                <a:defRPr/>
              </a:pPr>
              <a:t>‹#›</a:t>
            </a:fld>
            <a:endParaRPr lang="en-US" sz="105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289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8BDF40-E20B-4BD8-84C1-E65583DF3F27}"/>
              </a:ext>
            </a:extLst>
          </p:cNvPr>
          <p:cNvSpPr/>
          <p:nvPr/>
        </p:nvSpPr>
        <p:spPr bwMode="white">
          <a:xfrm>
            <a:off x="6096000" y="0"/>
            <a:ext cx="320279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629C48-D796-4AA1-B2C2-92BDFCA12EB1}"/>
              </a:ext>
            </a:extLst>
          </p:cNvPr>
          <p:cNvSpPr/>
          <p:nvPr/>
        </p:nvSpPr>
        <p:spPr>
          <a:xfrm>
            <a:off x="6142435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29E37C-2198-4D37-B81B-E710DF5B30FF}"/>
              </a:ext>
            </a:extLst>
          </p:cNvPr>
          <p:cNvSpPr/>
          <p:nvPr/>
        </p:nvSpPr>
        <p:spPr>
          <a:xfrm>
            <a:off x="6142435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2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7357676-74DF-4791-B288-69977DC9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53200" y="6248401"/>
            <a:ext cx="22098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9126EFFC-9F40-4763-B739-1C539166ACDE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5691A4D-8A37-4BF3-AA0E-515C11694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248401"/>
            <a:ext cx="5573316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276B00B-ADE0-415F-8138-D1827CD9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5989439" y="144661"/>
            <a:ext cx="533400" cy="24407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ABE1C5-EE8B-4BC6-9CA6-2359143DF2B8}" type="slidenum">
              <a:rPr lang="en-US"/>
              <a:pPr>
                <a:defRPr/>
              </a:pPr>
              <a:t>‹#›</a:t>
            </a:fld>
            <a:endParaRPr lang="en-US" sz="105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99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>
            <a:extLst>
              <a:ext uri="{FF2B5EF4-FFF2-40B4-BE49-F238E27FC236}">
                <a16:creationId xmlns:a16="http://schemas.microsoft.com/office/drawing/2014/main" id="{A4F6F228-293F-451A-B398-4A2C5AA16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0054C995-A101-40E4-88AF-8CCA2230FDF4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6" name="Footer Placeholder 21">
            <a:extLst>
              <a:ext uri="{FF2B5EF4-FFF2-40B4-BE49-F238E27FC236}">
                <a16:creationId xmlns:a16="http://schemas.microsoft.com/office/drawing/2014/main" id="{CCA5FA8B-1308-4FEA-BD7F-309CB578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>
            <a:extLst>
              <a:ext uri="{FF2B5EF4-FFF2-40B4-BE49-F238E27FC236}">
                <a16:creationId xmlns:a16="http://schemas.microsoft.com/office/drawing/2014/main" id="{4ABA97CD-1067-4741-8A30-677826546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8C804-4DE3-41CC-98C1-05EC14125A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479020"/>
      </p:ext>
    </p:extLst>
  </p:cSld>
  <p:clrMapOvr>
    <a:masterClrMapping/>
  </p:clrMapOvr>
  <p:transition>
    <p:dissolv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3575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21">
            <a:extLst>
              <a:ext uri="{FF2B5EF4-FFF2-40B4-BE49-F238E27FC236}">
                <a16:creationId xmlns:a16="http://schemas.microsoft.com/office/drawing/2014/main" id="{08246714-135A-4141-B338-011310AA9C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12">
            <a:extLst>
              <a:ext uri="{FF2B5EF4-FFF2-40B4-BE49-F238E27FC236}">
                <a16:creationId xmlns:a16="http://schemas.microsoft.com/office/drawing/2014/main" id="{8F4F6B3D-18ED-42C1-A268-20AE208D89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3172" y="1600201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0DC14AD-E591-4E58-B1A5-35E0EC923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248401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50" dirty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6932F45-0E06-4599-AAE4-53FB7B523600}" type="datetime8">
              <a:rPr lang="en-US" smtClean="0"/>
              <a:pPr>
                <a:defRPr/>
              </a:pPr>
              <a:t>5/21/2025 10:36 AM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26FEA4-D403-4009-AE9A-7A81A9DD7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248401"/>
            <a:ext cx="5420916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4241F5-43F5-4215-A37F-BA0C8B434726}"/>
              </a:ext>
            </a:extLst>
          </p:cNvPr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9CE3FE-C047-4327-A035-6DFB11A6800F}"/>
              </a:ext>
            </a:extLst>
          </p:cNvPr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AC8A25-7CFF-4E69-B8EE-4718F8D4EF3C}"/>
              </a:ext>
            </a:extLst>
          </p:cNvPr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6567ECF-60C7-489E-AFDA-40C4EB807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271589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b="1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683ACCE-3850-4732-B3C7-553D9AFBE5E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itchFamily="34" charset="0"/>
        </a:defRPr>
      </a:lvl9pPr>
    </p:titleStyle>
    <p:bodyStyle>
      <a:lvl1pPr marL="239316" indent="-239316" algn="l" rtl="0" eaLnBrk="0" fontAlgn="base" hangingPunct="0">
        <a:spcBef>
          <a:spcPts val="525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175" kern="1200">
          <a:solidFill>
            <a:schemeClr val="tx1"/>
          </a:solidFill>
          <a:latin typeface="+mn-lt"/>
          <a:ea typeface="+mn-ea"/>
          <a:cs typeface="+mn-cs"/>
        </a:defRPr>
      </a:lvl1pPr>
      <a:lvl2pPr marL="479822" indent="-204788" algn="l" rtl="0" eaLnBrk="0" fontAlgn="base" hangingPunct="0">
        <a:spcBef>
          <a:spcPts val="413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145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171450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SzPct val="75000"/>
        <a:buFont typeface="Wingdings" panose="05000000000000000000" pitchFamily="2" charset="2"/>
        <a:buChar char="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71450" algn="l" rtl="0" eaLnBrk="0" fontAlgn="base" hangingPunct="0">
        <a:spcBef>
          <a:spcPts val="300"/>
        </a:spcBef>
        <a:spcAft>
          <a:spcPct val="0"/>
        </a:spcAft>
        <a:buClr>
          <a:srgbClr val="C4652D"/>
        </a:buClr>
        <a:buSzPct val="65000"/>
        <a:buFont typeface="Wingdings" panose="05000000000000000000" pitchFamily="2" charset="2"/>
        <a:buChar char="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577340" indent="-17145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7145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988820" indent="-17145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7145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A85A211-1621-40B3-8498-92D63F04F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49237" y="6146363"/>
            <a:ext cx="6454086" cy="514350"/>
          </a:xfrm>
        </p:spPr>
        <p:txBody>
          <a:bodyPr>
            <a:noAutofit/>
          </a:bodyPr>
          <a:lstStyle/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sz="1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Institute of Engineering &amp; Technology (Autonomous)</a:t>
            </a:r>
          </a:p>
        </p:txBody>
      </p:sp>
      <p:pic>
        <p:nvPicPr>
          <p:cNvPr id="17412" name="Picture 6" descr="shrast.png">
            <a:extLst>
              <a:ext uri="{FF2B5EF4-FFF2-40B4-BE49-F238E27FC236}">
                <a16:creationId xmlns:a16="http://schemas.microsoft.com/office/drawing/2014/main" id="{863684A2-ACEE-402C-8327-54A487081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35" y="6134848"/>
            <a:ext cx="878038" cy="537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7747A4E-E27F-440E-AC5C-08CA6872DEFA}"/>
              </a:ext>
            </a:extLst>
          </p:cNvPr>
          <p:cNvSpPr txBox="1">
            <a:spLocks/>
          </p:cNvSpPr>
          <p:nvPr/>
        </p:nvSpPr>
        <p:spPr bwMode="auto">
          <a:xfrm>
            <a:off x="1688306" y="1828800"/>
            <a:ext cx="37719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normAutofit fontScale="97500"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9pPr>
          </a:lstStyle>
          <a:p>
            <a:pPr eaLnBrk="1" hangingPunct="1">
              <a:defRPr/>
            </a:pPr>
            <a:endParaRPr lang="en-US" sz="2250" dirty="0">
              <a:solidFill>
                <a:srgbClr val="42445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5" name="TextBox 3">
            <a:extLst>
              <a:ext uri="{FF2B5EF4-FFF2-40B4-BE49-F238E27FC236}">
                <a16:creationId xmlns:a16="http://schemas.microsoft.com/office/drawing/2014/main" id="{829753C7-FA66-496E-A2F6-D15FD2486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7108"/>
            <a:ext cx="9228083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 eaLnBrk="1" hangingPunct="1"/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(COM-811) Presentation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 CSE 8</a:t>
            </a:r>
            <a:r>
              <a:rPr lang="en-US" altLang="en-US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Batch 2021-2025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TITLE:__________________________________</a:t>
            </a:r>
          </a:p>
          <a:p>
            <a:pPr algn="ctr" eaLnBrk="1" hangingPunct="1"/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IN" altLang="en-US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22074-7C1A-055B-C38B-7D91296FF636}"/>
              </a:ext>
            </a:extLst>
          </p:cNvPr>
          <p:cNvSpPr txBox="1"/>
          <p:nvPr/>
        </p:nvSpPr>
        <p:spPr>
          <a:xfrm>
            <a:off x="1080654" y="4346024"/>
            <a:ext cx="75276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80" b="1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Name (Roll No)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Name (Roll No)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Name (Roll No)</a:t>
            </a: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Name (Roll No)</a:t>
            </a:r>
          </a:p>
        </p:txBody>
      </p:sp>
      <p:pic>
        <p:nvPicPr>
          <p:cNvPr id="8" name="Picture 7" descr="A logo with a letter m&#10;&#10;Description automatically generated">
            <a:extLst>
              <a:ext uri="{FF2B5EF4-FFF2-40B4-BE49-F238E27FC236}">
                <a16:creationId xmlns:a16="http://schemas.microsoft.com/office/drawing/2014/main" id="{E7CC7D9B-1886-E6F2-D84E-1509681009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186" y="2909457"/>
            <a:ext cx="6278641" cy="156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04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5DFD5-DCAA-E5A0-62FF-4CC73C57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3F4158E-5F48-D6BF-1598-DA1C9B767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56367"/>
            <a:ext cx="8153400" cy="738352"/>
          </a:xfrm>
        </p:spPr>
        <p:txBody>
          <a:bodyPr/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D38FBEE-3D6C-BF67-6B9A-F194893403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186" y="1616364"/>
            <a:ext cx="8740429" cy="5191658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&amp; Problem Statement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Proposed Solution &amp; Innovation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 (Technology Stack)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Architecture / Workflow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Results / Outcomes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461963" indent="-346075">
              <a:spcAft>
                <a:spcPts val="10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B351EA-5CDE-CBDF-7FE6-78CF39AE0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C88F4E-D4A1-85B2-4133-D179E4DA15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624" y="2732809"/>
            <a:ext cx="3159991" cy="315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128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E0CDBD5-21F7-77E5-85FD-15E6BA3AA1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Slide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E894D0B-7C4B-1AD0-0286-F8D9258C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CCF10E69-2F7C-7136-8E95-3F4D6CDBD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923ABB7A-6DB7-D051-4088-75BF02A5E803}"/>
              </a:ext>
            </a:extLst>
          </p:cNvPr>
          <p:cNvSpPr/>
          <p:nvPr/>
        </p:nvSpPr>
        <p:spPr>
          <a:xfrm>
            <a:off x="3403158" y="1636507"/>
            <a:ext cx="5513965" cy="3396660"/>
          </a:xfrm>
          <a:custGeom>
            <a:avLst/>
            <a:gdLst/>
            <a:ahLst/>
            <a:cxnLst/>
            <a:rect l="l" t="t" r="r" b="b"/>
            <a:pathLst>
              <a:path w="11009442" h="6633793">
                <a:moveTo>
                  <a:pt x="0" y="0"/>
                </a:moveTo>
                <a:lnTo>
                  <a:pt x="11009443" y="0"/>
                </a:lnTo>
                <a:lnTo>
                  <a:pt x="11009443" y="6633793"/>
                </a:lnTo>
                <a:lnTo>
                  <a:pt x="0" y="66337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530" b="-28237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E647C3-AB35-7678-4AF9-41563AEE0B48}"/>
              </a:ext>
            </a:extLst>
          </p:cNvPr>
          <p:cNvGrpSpPr/>
          <p:nvPr/>
        </p:nvGrpSpPr>
        <p:grpSpPr>
          <a:xfrm>
            <a:off x="285375" y="1831986"/>
            <a:ext cx="2791780" cy="1738150"/>
            <a:chOff x="-19304" y="-3175"/>
            <a:chExt cx="17589639" cy="13133011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9DE5C90-D9E4-34EB-1C37-DE1F5F27B339}"/>
                </a:ext>
              </a:extLst>
            </p:cNvPr>
            <p:cNvSpPr/>
            <p:nvPr/>
          </p:nvSpPr>
          <p:spPr>
            <a:xfrm>
              <a:off x="-19304" y="-3175"/>
              <a:ext cx="17589639" cy="13133011"/>
            </a:xfrm>
            <a:custGeom>
              <a:avLst/>
              <a:gdLst/>
              <a:ahLst/>
              <a:cxnLst/>
              <a:rect l="l" t="t" r="r" b="b"/>
              <a:pathLst>
                <a:path w="17589639" h="13133011">
                  <a:moveTo>
                    <a:pt x="17564873" y="12549318"/>
                  </a:moveTo>
                  <a:cubicBezTo>
                    <a:pt x="17543157" y="12666666"/>
                    <a:pt x="17494389" y="12817923"/>
                    <a:pt x="17409046" y="12901616"/>
                  </a:cubicBezTo>
                  <a:cubicBezTo>
                    <a:pt x="17223752" y="13083226"/>
                    <a:pt x="16857611" y="13103165"/>
                    <a:pt x="16450575" y="13079797"/>
                  </a:cubicBezTo>
                  <a:cubicBezTo>
                    <a:pt x="16158221" y="13063034"/>
                    <a:pt x="15955021" y="13105960"/>
                    <a:pt x="15662160" y="13108753"/>
                  </a:cubicBezTo>
                  <a:cubicBezTo>
                    <a:pt x="15363964" y="13111547"/>
                    <a:pt x="15228328" y="13112817"/>
                    <a:pt x="14930005" y="13115612"/>
                  </a:cubicBezTo>
                  <a:cubicBezTo>
                    <a:pt x="10307154" y="13118405"/>
                    <a:pt x="2587498" y="13121199"/>
                    <a:pt x="2289302" y="13123993"/>
                  </a:cubicBezTo>
                  <a:cubicBezTo>
                    <a:pt x="1995678" y="13126788"/>
                    <a:pt x="1701800" y="13133011"/>
                    <a:pt x="1408303" y="13122342"/>
                  </a:cubicBezTo>
                  <a:cubicBezTo>
                    <a:pt x="1260348" y="13117009"/>
                    <a:pt x="1112393" y="13106975"/>
                    <a:pt x="965454" y="13089195"/>
                  </a:cubicBezTo>
                  <a:cubicBezTo>
                    <a:pt x="844931" y="13074590"/>
                    <a:pt x="723900" y="13056557"/>
                    <a:pt x="607949" y="13019853"/>
                  </a:cubicBezTo>
                  <a:cubicBezTo>
                    <a:pt x="501777" y="12986325"/>
                    <a:pt x="399542" y="12937049"/>
                    <a:pt x="315849" y="12862627"/>
                  </a:cubicBezTo>
                  <a:cubicBezTo>
                    <a:pt x="227203" y="12783760"/>
                    <a:pt x="170053" y="12678604"/>
                    <a:pt x="135636" y="12566083"/>
                  </a:cubicBezTo>
                  <a:cubicBezTo>
                    <a:pt x="98425" y="12444416"/>
                    <a:pt x="85852" y="12316527"/>
                    <a:pt x="71882" y="12190543"/>
                  </a:cubicBezTo>
                  <a:cubicBezTo>
                    <a:pt x="55626" y="12043858"/>
                    <a:pt x="40894" y="11897046"/>
                    <a:pt x="27813" y="11750107"/>
                  </a:cubicBezTo>
                  <a:cubicBezTo>
                    <a:pt x="14732" y="8416996"/>
                    <a:pt x="32004" y="7197418"/>
                    <a:pt x="22225" y="1259967"/>
                  </a:cubicBezTo>
                  <a:cubicBezTo>
                    <a:pt x="12319" y="1113282"/>
                    <a:pt x="30734" y="951865"/>
                    <a:pt x="33020" y="804799"/>
                  </a:cubicBezTo>
                  <a:cubicBezTo>
                    <a:pt x="35052" y="677926"/>
                    <a:pt x="0" y="445389"/>
                    <a:pt x="66040" y="335788"/>
                  </a:cubicBezTo>
                  <a:cubicBezTo>
                    <a:pt x="123444" y="240665"/>
                    <a:pt x="205232" y="159639"/>
                    <a:pt x="302387" y="105410"/>
                  </a:cubicBezTo>
                  <a:cubicBezTo>
                    <a:pt x="461137" y="16764"/>
                    <a:pt x="641858" y="2032"/>
                    <a:pt x="821055" y="10033"/>
                  </a:cubicBezTo>
                  <a:cubicBezTo>
                    <a:pt x="915289" y="10033"/>
                    <a:pt x="1009396" y="10287"/>
                    <a:pt x="1103630" y="10668"/>
                  </a:cubicBezTo>
                  <a:cubicBezTo>
                    <a:pt x="1675130" y="13081"/>
                    <a:pt x="2246503" y="21336"/>
                    <a:pt x="7071481" y="18796"/>
                  </a:cubicBezTo>
                  <a:cubicBezTo>
                    <a:pt x="14829802" y="17526"/>
                    <a:pt x="15095359" y="10541"/>
                    <a:pt x="15361044" y="5334"/>
                  </a:cubicBezTo>
                  <a:cubicBezTo>
                    <a:pt x="15634728" y="0"/>
                    <a:pt x="15908413" y="5334"/>
                    <a:pt x="16181972" y="10160"/>
                  </a:cubicBezTo>
                  <a:cubicBezTo>
                    <a:pt x="16459085" y="14986"/>
                    <a:pt x="16735691" y="13208"/>
                    <a:pt x="17012805" y="9144"/>
                  </a:cubicBezTo>
                  <a:cubicBezTo>
                    <a:pt x="17201654" y="6350"/>
                    <a:pt x="17447146" y="30734"/>
                    <a:pt x="17531220" y="230505"/>
                  </a:cubicBezTo>
                  <a:cubicBezTo>
                    <a:pt x="17555857" y="289052"/>
                    <a:pt x="17561953" y="353060"/>
                    <a:pt x="17563731" y="415925"/>
                  </a:cubicBezTo>
                  <a:cubicBezTo>
                    <a:pt x="17565890" y="488442"/>
                    <a:pt x="17565509" y="561086"/>
                    <a:pt x="17566270" y="633603"/>
                  </a:cubicBezTo>
                  <a:cubicBezTo>
                    <a:pt x="17567796" y="781558"/>
                    <a:pt x="17533123" y="1194054"/>
                    <a:pt x="17534774" y="3995238"/>
                  </a:cubicBezTo>
                  <a:cubicBezTo>
                    <a:pt x="17537949" y="11811321"/>
                    <a:pt x="17577321" y="11844849"/>
                    <a:pt x="17580369" y="12142791"/>
                  </a:cubicBezTo>
                  <a:cubicBezTo>
                    <a:pt x="17581765" y="12277920"/>
                    <a:pt x="17589639" y="12415714"/>
                    <a:pt x="17564873" y="12549318"/>
                  </a:cubicBezTo>
                  <a:close/>
                </a:path>
              </a:pathLst>
            </a:custGeom>
            <a:solidFill>
              <a:srgbClr val="E3EBFF"/>
            </a:solidFill>
          </p:spPr>
          <p:txBody>
            <a:bodyPr/>
            <a:lstStyle/>
            <a:p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Group 4">
            <a:extLst>
              <a:ext uri="{FF2B5EF4-FFF2-40B4-BE49-F238E27FC236}">
                <a16:creationId xmlns:a16="http://schemas.microsoft.com/office/drawing/2014/main" id="{EDC32727-C792-25D6-0A0A-3A027AF959D2}"/>
              </a:ext>
            </a:extLst>
          </p:cNvPr>
          <p:cNvGrpSpPr/>
          <p:nvPr/>
        </p:nvGrpSpPr>
        <p:grpSpPr>
          <a:xfrm>
            <a:off x="266700" y="4035268"/>
            <a:ext cx="2871293" cy="1825614"/>
            <a:chOff x="-19304" y="-3175"/>
            <a:chExt cx="17589639" cy="13133011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05B26750-55C8-BACE-14A5-9954E366F095}"/>
                </a:ext>
              </a:extLst>
            </p:cNvPr>
            <p:cNvSpPr/>
            <p:nvPr/>
          </p:nvSpPr>
          <p:spPr>
            <a:xfrm>
              <a:off x="-19304" y="-3175"/>
              <a:ext cx="17589639" cy="13133011"/>
            </a:xfrm>
            <a:custGeom>
              <a:avLst/>
              <a:gdLst/>
              <a:ahLst/>
              <a:cxnLst/>
              <a:rect l="l" t="t" r="r" b="b"/>
              <a:pathLst>
                <a:path w="17589639" h="13133011">
                  <a:moveTo>
                    <a:pt x="17564873" y="12549318"/>
                  </a:moveTo>
                  <a:cubicBezTo>
                    <a:pt x="17543157" y="12666666"/>
                    <a:pt x="17494389" y="12817923"/>
                    <a:pt x="17409046" y="12901616"/>
                  </a:cubicBezTo>
                  <a:cubicBezTo>
                    <a:pt x="17223752" y="13083226"/>
                    <a:pt x="16857611" y="13103165"/>
                    <a:pt x="16450575" y="13079797"/>
                  </a:cubicBezTo>
                  <a:cubicBezTo>
                    <a:pt x="16158221" y="13063034"/>
                    <a:pt x="15955021" y="13105960"/>
                    <a:pt x="15662160" y="13108753"/>
                  </a:cubicBezTo>
                  <a:cubicBezTo>
                    <a:pt x="15363964" y="13111547"/>
                    <a:pt x="15228328" y="13112817"/>
                    <a:pt x="14930005" y="13115612"/>
                  </a:cubicBezTo>
                  <a:cubicBezTo>
                    <a:pt x="10307154" y="13118405"/>
                    <a:pt x="2587498" y="13121199"/>
                    <a:pt x="2289302" y="13123993"/>
                  </a:cubicBezTo>
                  <a:cubicBezTo>
                    <a:pt x="1995678" y="13126788"/>
                    <a:pt x="1701800" y="13133011"/>
                    <a:pt x="1408303" y="13122342"/>
                  </a:cubicBezTo>
                  <a:cubicBezTo>
                    <a:pt x="1260348" y="13117009"/>
                    <a:pt x="1112393" y="13106975"/>
                    <a:pt x="965454" y="13089195"/>
                  </a:cubicBezTo>
                  <a:cubicBezTo>
                    <a:pt x="844931" y="13074590"/>
                    <a:pt x="723900" y="13056557"/>
                    <a:pt x="607949" y="13019853"/>
                  </a:cubicBezTo>
                  <a:cubicBezTo>
                    <a:pt x="501777" y="12986325"/>
                    <a:pt x="399542" y="12937049"/>
                    <a:pt x="315849" y="12862627"/>
                  </a:cubicBezTo>
                  <a:cubicBezTo>
                    <a:pt x="227203" y="12783760"/>
                    <a:pt x="170053" y="12678604"/>
                    <a:pt x="135636" y="12566083"/>
                  </a:cubicBezTo>
                  <a:cubicBezTo>
                    <a:pt x="98425" y="12444416"/>
                    <a:pt x="85852" y="12316527"/>
                    <a:pt x="71882" y="12190543"/>
                  </a:cubicBezTo>
                  <a:cubicBezTo>
                    <a:pt x="55626" y="12043858"/>
                    <a:pt x="40894" y="11897046"/>
                    <a:pt x="27813" y="11750107"/>
                  </a:cubicBezTo>
                  <a:cubicBezTo>
                    <a:pt x="14732" y="8416996"/>
                    <a:pt x="32004" y="7197418"/>
                    <a:pt x="22225" y="1259967"/>
                  </a:cubicBezTo>
                  <a:cubicBezTo>
                    <a:pt x="12319" y="1113282"/>
                    <a:pt x="30734" y="951865"/>
                    <a:pt x="33020" y="804799"/>
                  </a:cubicBezTo>
                  <a:cubicBezTo>
                    <a:pt x="35052" y="677926"/>
                    <a:pt x="0" y="445389"/>
                    <a:pt x="66040" y="335788"/>
                  </a:cubicBezTo>
                  <a:cubicBezTo>
                    <a:pt x="123444" y="240665"/>
                    <a:pt x="205232" y="159639"/>
                    <a:pt x="302387" y="105410"/>
                  </a:cubicBezTo>
                  <a:cubicBezTo>
                    <a:pt x="461137" y="16764"/>
                    <a:pt x="641858" y="2032"/>
                    <a:pt x="821055" y="10033"/>
                  </a:cubicBezTo>
                  <a:cubicBezTo>
                    <a:pt x="915289" y="10033"/>
                    <a:pt x="1009396" y="10287"/>
                    <a:pt x="1103630" y="10668"/>
                  </a:cubicBezTo>
                  <a:cubicBezTo>
                    <a:pt x="1675130" y="13081"/>
                    <a:pt x="2246503" y="21336"/>
                    <a:pt x="7071481" y="18796"/>
                  </a:cubicBezTo>
                  <a:cubicBezTo>
                    <a:pt x="14829802" y="17526"/>
                    <a:pt x="15095359" y="10541"/>
                    <a:pt x="15361044" y="5334"/>
                  </a:cubicBezTo>
                  <a:cubicBezTo>
                    <a:pt x="15634728" y="0"/>
                    <a:pt x="15908413" y="5334"/>
                    <a:pt x="16181972" y="10160"/>
                  </a:cubicBezTo>
                  <a:cubicBezTo>
                    <a:pt x="16459085" y="14986"/>
                    <a:pt x="16735691" y="13208"/>
                    <a:pt x="17012805" y="9144"/>
                  </a:cubicBezTo>
                  <a:cubicBezTo>
                    <a:pt x="17201654" y="6350"/>
                    <a:pt x="17447146" y="30734"/>
                    <a:pt x="17531220" y="230505"/>
                  </a:cubicBezTo>
                  <a:cubicBezTo>
                    <a:pt x="17555857" y="289052"/>
                    <a:pt x="17561953" y="353060"/>
                    <a:pt x="17563731" y="415925"/>
                  </a:cubicBezTo>
                  <a:cubicBezTo>
                    <a:pt x="17565890" y="488442"/>
                    <a:pt x="17565509" y="561086"/>
                    <a:pt x="17566270" y="633603"/>
                  </a:cubicBezTo>
                  <a:cubicBezTo>
                    <a:pt x="17567796" y="781558"/>
                    <a:pt x="17533123" y="1194054"/>
                    <a:pt x="17534774" y="3995238"/>
                  </a:cubicBezTo>
                  <a:cubicBezTo>
                    <a:pt x="17537949" y="11811321"/>
                    <a:pt x="17577321" y="11844849"/>
                    <a:pt x="17580369" y="12142791"/>
                  </a:cubicBezTo>
                  <a:cubicBezTo>
                    <a:pt x="17581765" y="12277920"/>
                    <a:pt x="17589639" y="12415714"/>
                    <a:pt x="17564873" y="12549318"/>
                  </a:cubicBezTo>
                  <a:close/>
                </a:path>
              </a:pathLst>
            </a:custGeom>
            <a:solidFill>
              <a:srgbClr val="E3EBFF"/>
            </a:solidFill>
          </p:spPr>
          <p:txBody>
            <a:bodyPr/>
            <a:lstStyle/>
            <a:p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BA2F4A3-18A1-3CCD-D186-2306E1C488C4}"/>
              </a:ext>
            </a:extLst>
          </p:cNvPr>
          <p:cNvSpPr txBox="1"/>
          <p:nvPr/>
        </p:nvSpPr>
        <p:spPr>
          <a:xfrm>
            <a:off x="323712" y="2238041"/>
            <a:ext cx="27151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on labeled fundus images.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patterns from the images.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predictions with actual results.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by adjusting filters.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0B2691-C362-4887-6F52-2D39FBD81A8D}"/>
              </a:ext>
            </a:extLst>
          </p:cNvPr>
          <p:cNvSpPr txBox="1"/>
          <p:nvPr/>
        </p:nvSpPr>
        <p:spPr>
          <a:xfrm>
            <a:off x="533400" y="1845795"/>
            <a:ext cx="2134925" cy="37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73"/>
              </a:lnSpc>
            </a:pPr>
            <a:r>
              <a:rPr lang="en-US" sz="1200" b="1" spc="-25" dirty="0">
                <a:solidFill>
                  <a:srgbClr val="303F8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CNN Learning Cycle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177E07-047A-594F-1F93-A8D50D6383F9}"/>
              </a:ext>
            </a:extLst>
          </p:cNvPr>
          <p:cNvSpPr txBox="1"/>
          <p:nvPr/>
        </p:nvSpPr>
        <p:spPr>
          <a:xfrm>
            <a:off x="245618" y="4549934"/>
            <a:ext cx="28712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4351" lvl="1" indent="-237176" algn="l"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Automatic Feature Learning  [5]</a:t>
            </a:r>
          </a:p>
          <a:p>
            <a:pPr marL="474351" lvl="1" indent="-237176" algn="l"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Efficient Pattern Recognition [6]</a:t>
            </a:r>
          </a:p>
          <a:p>
            <a:pPr marL="474351" lvl="1" indent="-237176" algn="l"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Superior to FCNs and ANNs [6] [7]</a:t>
            </a:r>
          </a:p>
          <a:p>
            <a:pPr marL="474351" lvl="1" indent="-237176" algn="l">
              <a:buFont typeface="Arial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Better for High-Dimensional Images [7]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E4EE84-ED05-9AC1-6088-9BBF67E4CAE5}"/>
              </a:ext>
            </a:extLst>
          </p:cNvPr>
          <p:cNvSpPr txBox="1"/>
          <p:nvPr/>
        </p:nvSpPr>
        <p:spPr>
          <a:xfrm>
            <a:off x="708328" y="4122348"/>
            <a:ext cx="1785068" cy="37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73"/>
              </a:lnSpc>
            </a:pPr>
            <a:r>
              <a:rPr lang="en-US" sz="1200" b="1" spc="-25" dirty="0">
                <a:solidFill>
                  <a:srgbClr val="303F80"/>
                </a:solidFill>
                <a:latin typeface="Times New Roman" panose="02020603050405020304" pitchFamily="18" charset="0"/>
                <a:ea typeface="TT Rounds Condensed Bold"/>
                <a:cs typeface="Times New Roman" panose="02020603050405020304" pitchFamily="18" charset="0"/>
                <a:sym typeface="TT Rounds Condensed Bold"/>
              </a:rPr>
              <a:t>Why CNN?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D23D95-2200-91EF-F195-4B5C1BA6E1FA}"/>
              </a:ext>
            </a:extLst>
          </p:cNvPr>
          <p:cNvSpPr txBox="1"/>
          <p:nvPr/>
        </p:nvSpPr>
        <p:spPr>
          <a:xfrm>
            <a:off x="4027336" y="5003289"/>
            <a:ext cx="4572000" cy="394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Fig 1: CNN Work Flow [4]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1D34A-C97A-EE07-A585-A503E4AFA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38E30A1-552C-17A6-237A-CC8B7159BE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064" y="337768"/>
            <a:ext cx="8153400" cy="717330"/>
          </a:xfrm>
        </p:spPr>
        <p:txBody>
          <a:bodyPr/>
          <a:lstStyle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Slide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A5DF384-D7AC-A9E2-227F-BCFB1619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pPr>
                <a:defRPr/>
              </a:pPr>
              <a:t>4</a:t>
            </a:fld>
            <a:endParaRPr lang="en-US" altLang="en-US" dirty="0"/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B402238B-A59C-131A-CD2A-726088402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1D7A7-BF36-4C5E-BC73-167C346B571A}"/>
              </a:ext>
            </a:extLst>
          </p:cNvPr>
          <p:cNvSpPr txBox="1">
            <a:spLocks/>
          </p:cNvSpPr>
          <p:nvPr/>
        </p:nvSpPr>
        <p:spPr bwMode="auto">
          <a:xfrm>
            <a:off x="609599" y="1589567"/>
            <a:ext cx="7956331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39316" indent="-239316" algn="l" rtl="0" eaLnBrk="0" fontAlgn="base" hangingPunct="0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9822" indent="-204788" algn="l" rtl="0" eaLnBrk="0" fontAlgn="base" hangingPunct="0">
              <a:spcBef>
                <a:spcPts val="413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16596-F33F-40B7-9896-945F6684D1E1}"/>
              </a:ext>
            </a:extLst>
          </p:cNvPr>
          <p:cNvSpPr txBox="1">
            <a:spLocks/>
          </p:cNvSpPr>
          <p:nvPr/>
        </p:nvSpPr>
        <p:spPr>
          <a:xfrm>
            <a:off x="4844901" y="1589567"/>
            <a:ext cx="3886200" cy="4572000"/>
          </a:xfrm>
          <a:prstGeom prst="rect">
            <a:avLst/>
          </a:prstGeom>
        </p:spPr>
        <p:txBody>
          <a:bodyPr>
            <a:normAutofit/>
          </a:bodyPr>
          <a:lstStyle>
            <a:lvl1pPr marL="239316" indent="-239316" algn="l" rtl="0" eaLnBrk="0" fontAlgn="base" hangingPunct="0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9822" indent="-204788" algn="l" rtl="0" eaLnBrk="0" fontAlgn="base" hangingPunct="0">
              <a:spcBef>
                <a:spcPts val="413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031991-6E99-0755-AEFC-D403F3535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78" y="1589567"/>
            <a:ext cx="8279423" cy="46473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024024-0CA3-15EE-9E24-E52FC5CA09EC}"/>
              </a:ext>
            </a:extLst>
          </p:cNvPr>
          <p:cNvSpPr txBox="1"/>
          <p:nvPr/>
        </p:nvSpPr>
        <p:spPr>
          <a:xfrm>
            <a:off x="3327622" y="6310543"/>
            <a:ext cx="32322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 2: CNN for </a:t>
            </a:r>
            <a:r>
              <a:rPr lang="en-IN" sz="1000" b="1" dirty="0" err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Glucoma</a:t>
            </a:r>
            <a:r>
              <a:rPr lang="en-IN" sz="10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detection [8]</a:t>
            </a:r>
          </a:p>
        </p:txBody>
      </p:sp>
    </p:spTree>
    <p:extLst>
      <p:ext uri="{BB962C8B-B14F-4D97-AF65-F5344CB8AC3E}">
        <p14:creationId xmlns:p14="http://schemas.microsoft.com/office/powerpoint/2010/main" val="1753634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68C42-0F8C-2BB7-64E2-A5F5AA06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54312-A8BB-50F5-5B18-9D5A6FD43F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115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EF43-CEB9-FD6E-2D2B-46023DF3E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CD87-4A37-4B48-EBE8-69C7A0EB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66AE4-0738-1D79-89F7-6FAABB904F6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089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6414D-32FD-E9C3-BE64-3878FACCE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[Sample Slide]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8D919-961D-26D5-74E9-336AFA1BC6B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95300" y="1520686"/>
            <a:ext cx="8153400" cy="5108713"/>
          </a:xfrm>
        </p:spPr>
        <p:txBody>
          <a:bodyPr/>
          <a:lstStyle/>
          <a:p>
            <a:pPr algn="just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Hollerer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Fischer, B. Brenner, M. Papa, S.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Schlund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 Kastner, et al., "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Cobot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attack: a security assessment exemplified by a specific collaborative robot", 10th CIRP Sponsored Conference on Digital Enterprise Technologies (DET 2020) - Digital Technologies as Enablers of Industrial Competitiveness and Sustainability, vol. 54, pp. 191-196, 2021.</a:t>
            </a: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Hollerer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 Kastner and T. Sauter, "Towards a comprehensive ontology considering safety security and operation requirements 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2023 IEEE 28th International Conference on Emerging Technologies and Factory Automation (ETFA), pp. 1-4, 2023.</a:t>
            </a:r>
          </a:p>
          <a:p>
            <a:pPr algn="just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Kropatschek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Hollerer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Hoffman, D. Winkler, A.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Lüder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Sauter, et al., "Combining models for safety and security concerns in automating digital production", 2023 IEEE 21st International Conference on Industrial Informatics (INDIN), pp. 1-8, 2023.</a:t>
            </a: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Pirbhulal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Gkioulos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S. Katsikas, "Towards integration of security and safety measures for critical infrastructures based on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bayesian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networks and graph theory: A systematic literature review", Signals, vol. 2, no. 4, pp. 771-802, 2021.</a:t>
            </a:r>
          </a:p>
          <a:p>
            <a:pPr algn="just">
              <a:buFont typeface="+mj-lt"/>
              <a:buAutoNum type="arabicPeriod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Wolf and D.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Serpanos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"Safety and security in cyber-physical systems and internet-of-things systems", Proceedings of the IEEE, vol. 106, no. 1, pp. 9-20, 2018.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810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8C84386-2736-1BB6-2D9A-13D993FAB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3294856"/>
            <a:ext cx="7886700" cy="706438"/>
          </a:xfrm>
        </p:spPr>
        <p:txBody>
          <a:bodyPr/>
          <a:lstStyle/>
          <a:p>
            <a:pPr algn="ctr"/>
            <a:r>
              <a:rPr lang="en-US" alt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3788318-D069-3719-CD59-E056C878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0005FD2E-2FF2-4683-A32C-9B09376781B4}" type="slidenum">
              <a:rPr lang="en-US" altLang="en-US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D80DBD17-B36D-82AA-13CF-32C9BC24A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05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22CB920D-E7DB-B4DA-51A6-2FA04BB65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867400"/>
            <a:ext cx="7162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endParaRPr lang="en-US" altLang="en-US" sz="2800" baseline="-250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AcademicPresentation3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18315</TotalTime>
  <Words>474</Words>
  <Application>Microsoft Office PowerPoint</Application>
  <PresentationFormat>On-screen Show (4:3)</PresentationFormat>
  <Paragraphs>56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Times New Roman</vt:lpstr>
      <vt:lpstr>Tw Cen MT</vt:lpstr>
      <vt:lpstr>Wingdings</vt:lpstr>
      <vt:lpstr>Wingdings 2</vt:lpstr>
      <vt:lpstr>1_AcademicPresentation3</vt:lpstr>
      <vt:lpstr>PowerPoint Presentation</vt:lpstr>
      <vt:lpstr>Table of Content</vt:lpstr>
      <vt:lpstr>Sample Slide</vt:lpstr>
      <vt:lpstr>Sample Slide</vt:lpstr>
      <vt:lpstr>Title of the Slide</vt:lpstr>
      <vt:lpstr>Title of the slide</vt:lpstr>
      <vt:lpstr>References [Sample Slide]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sahil.adm@mietjammu.in</dc:creator>
  <cp:lastModifiedBy>Saurabh Sharma</cp:lastModifiedBy>
  <cp:revision>289</cp:revision>
  <dcterms:created xsi:type="dcterms:W3CDTF">2020-08-09T07:27:56Z</dcterms:created>
  <dcterms:modified xsi:type="dcterms:W3CDTF">2025-05-21T05:08:22Z</dcterms:modified>
</cp:coreProperties>
</file>