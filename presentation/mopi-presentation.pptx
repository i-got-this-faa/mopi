
<file path=[Content_Types].xml><?xml version="1.0" encoding="utf-8"?>
<ns0:Types xmlns:ns0="http://schemas.openxmlformats.org/package/2006/content-types"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notesMasters/notesMaster1.xml" ContentType="application/vnd.openxmlformats-officedocument.presentationml.notesMaster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12.xml" ContentType="application/vnd.openxmlformats-officedocument.presentationml.slideLayout+xml"/>
  <ns0:Override PartName="/ppt/slideLayouts/slideLayout13.xml" ContentType="application/vnd.openxmlformats-officedocument.presentationml.slideLayout+xml"/>
  <ns0:Override PartName="/ppt/theme/theme2.xml" ContentType="application/vnd.openxmlformats-officedocument.theme+xml"/>
  <ns0:Override PartName="/ppt/notesSlides/notesSlide1.xml" ContentType="application/vnd.openxmlformats-officedocument.presentationml.notesSlide+xml"/>
  <ns0:Override PartName="/ppt/notesSlides/notesSlide2.xml" ContentType="application/vnd.openxmlformats-officedocument.presentationml.notesSlide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</ns0: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>
  <p:sldMasterIdLst>
    <p:sldMasterId id="2147483785" r:id="rId1"/>
  </p:sldMasterIdLst>
  <p:notesMasterIdLst>
    <p:notesMasterId r:id="rId10"/>
  </p:notesMasterIdLst>
  <p:sldIdLst>
    <p:sldId id="1001" r:id="sId1"/>
    <p:sldId id="1002" r:id="sId2"/>
    <p:sldId id="1003" r:id="sId3"/>
    <p:sldId id="1004" r:id="sId4"/>
    <p:sldId id="1005" r:id="sId5"/>
    <p:sldId id="1006" r:id="sId6"/>
    <p:sldId id="1007" r:id="sId7"/>
    <p:sldId id="1008" r:id="sId8"/>
    <p:sldId id="1009" r:id="sId9"/>
    <p:sldId id="1010" r:id="sId10"/>
    <p:sldId id="1011" r:id="sId11"/>
    <p:sldId id="1012" r:id="sId1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ns3:sldGuideLst>
        <ns3:guide id="1" orient="horz" pos="2160" userDrawn="1">
          <ns3:clr>
            <a:srgbClr val="A4A3A4"/>
          </ns3:clr>
        </ns3:guide>
        <ns3:guide id="2" pos="2880" userDrawn="1">
          <ns3:clr>
            <a:srgbClr val="A4A3A4"/>
          </ns3:clr>
        </ns3:guide>
      </ns3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941" autoAdjust="0"/>
    <p:restoredTop sz="94041" autoAdjust="0"/>
  </p:normalViewPr>
  <p:slideViewPr>
    <p:cSldViewPr snapToGrid="0">
      <p:cViewPr varScale="1">
        <p:scale>
          <a:sx n="104" d="100"/>
          <a:sy n="104" d="100"/>
        </p:scale>
        <p:origin x="2268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?>
<ns0:Relationships xmlns:ns0="http://schemas.openxmlformats.org/package/2006/relationships"><ns0:Relationship Id="rId13" Type="http://schemas.openxmlformats.org/officeDocument/2006/relationships/theme" Target="theme/theme1.xml" /><ns0:Relationship Id="rId12" Type="http://schemas.openxmlformats.org/officeDocument/2006/relationships/viewProps" Target="viewProps.xml" /><ns0:Relationship Id="rId1" Type="http://schemas.openxmlformats.org/officeDocument/2006/relationships/slideMaster" Target="slideMasters/slideMaster1.xml" /><ns0:Relationship Id="rId11" Type="http://schemas.openxmlformats.org/officeDocument/2006/relationships/presProps" Target="presProps.xml" /><ns0:Relationship Id="rId10" Type="http://schemas.openxmlformats.org/officeDocument/2006/relationships/notesMaster" Target="notesMasters/notesMaster1.xml" /><ns0:Relationship Id="rId14" Type="http://schemas.openxmlformats.org/officeDocument/2006/relationships/tableStyles" Target="tableStyles.xml" /><ns0:Relationship Id="sId1" Type="http://schemas.openxmlformats.org/officeDocument/2006/relationships/slide" Target="slides/slide1.xml" /><ns0:Relationship Id="sId2" Type="http://schemas.openxmlformats.org/officeDocument/2006/relationships/slide" Target="slides/slide2.xml" /><ns0:Relationship Id="sId3" Type="http://schemas.openxmlformats.org/officeDocument/2006/relationships/slide" Target="slides/slide3.xml" /><ns0:Relationship Id="sId4" Type="http://schemas.openxmlformats.org/officeDocument/2006/relationships/slide" Target="slides/slide4.xml" /><ns0:Relationship Id="sId5" Type="http://schemas.openxmlformats.org/officeDocument/2006/relationships/slide" Target="slides/slide5.xml" /><ns0:Relationship Id="sId6" Type="http://schemas.openxmlformats.org/officeDocument/2006/relationships/slide" Target="slides/slide6.xml" /><ns0:Relationship Id="sId7" Type="http://schemas.openxmlformats.org/officeDocument/2006/relationships/slide" Target="slides/slide7.xml" /><ns0:Relationship Id="sId8" Type="http://schemas.openxmlformats.org/officeDocument/2006/relationships/slide" Target="slides/slide8.xml" /><ns0:Relationship Id="sId9" Type="http://schemas.openxmlformats.org/officeDocument/2006/relationships/slide" Target="slides/slide9.xml" /><ns0:Relationship Id="sId10" Type="http://schemas.openxmlformats.org/officeDocument/2006/relationships/slide" Target="slides/slide10.xml" /><ns0:Relationship Id="sId11" Type="http://schemas.openxmlformats.org/officeDocument/2006/relationships/slide" Target="slides/slide11.xml" /><ns0:Relationship Id="sId12" Type="http://schemas.openxmlformats.org/officeDocument/2006/relationships/slide" Target="slides/slide12.xml" /></ns0: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C18445B-3D83-48F8-8074-7A945437CEF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4DCF11-2565-4585-B14D-DE65C8B338D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F5D7F702-C849-4981-AD7E-916FA0F2FB34}" type="datetimeFigureOut">
              <a:rPr lang="en-US"/>
              <a:pPr>
                <a:defRPr/>
              </a:pPr>
              <a:t>5/21/2025</a:t>
            </a:fld>
            <a:endParaRPr lang="en-US" dirty="0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EBBC463-3244-48B7-9B27-FE9395C461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5410931D-B801-4759-8B55-646BB45BD9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49E9F1-013D-4E40-8E40-E44D90C541B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CE0D85-C464-4273-89B9-031AFAC5EF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3850892F-F9FC-456A-BEE2-9EDE45E6D0B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7301257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>
            <a:extLst>
              <a:ext uri="{FF2B5EF4-FFF2-40B4-BE49-F238E27FC236}">
                <a16:creationId xmlns:a16="http://schemas.microsoft.com/office/drawing/2014/main" id="{010EEB2E-AD9B-413B-B6C3-EB5E8378200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Notes Placeholder 2">
            <a:extLst>
              <a:ext uri="{FF2B5EF4-FFF2-40B4-BE49-F238E27FC236}">
                <a16:creationId xmlns:a16="http://schemas.microsoft.com/office/drawing/2014/main" id="{94E90F94-B400-4281-83AE-CCE5888FF2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 dirty="0"/>
              <a:t>Presentation slide for courses, classes, lectures et al. </a:t>
            </a:r>
          </a:p>
        </p:txBody>
      </p:sp>
      <p:sp>
        <p:nvSpPr>
          <p:cNvPr id="24580" name="Slide Number Placeholder 3">
            <a:extLst>
              <a:ext uri="{FF2B5EF4-FFF2-40B4-BE49-F238E27FC236}">
                <a16:creationId xmlns:a16="http://schemas.microsoft.com/office/drawing/2014/main" id="{1627386B-90AB-4EC7-BBB6-8EBBD1B3E1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fld id="{1D71760B-D2A6-42F8-B9C5-E0C097D11814}" type="slidenum">
              <a:rPr lang="en-US">
                <a:solidFill>
                  <a:prstClr val="black"/>
                </a:solidFill>
                <a:latin typeface="Calibri"/>
                <a:cs typeface="+mn-cs"/>
              </a:rPr>
              <a:pPr>
                <a:defRPr/>
              </a:pPr>
              <a:t>1</a:t>
            </a:fld>
            <a:endParaRPr lang="en-US">
              <a:solidFill>
                <a:prstClr val="black"/>
              </a:solidFill>
              <a:latin typeface="Calibri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90466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850892F-F9FC-456A-BEE2-9EDE45E6D0B8}" type="slidenum">
              <a:rPr lang="en-US" altLang="en-US" smtClean="0"/>
              <a:pPr>
                <a:defRPr/>
              </a:pPr>
              <a:t>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713259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7BEFB50-DFDB-433B-8285-DB86B5D0C070}"/>
              </a:ext>
            </a:extLst>
          </p:cNvPr>
          <p:cNvSpPr/>
          <p:nvPr/>
        </p:nvSpPr>
        <p:spPr bwMode="white">
          <a:xfrm>
            <a:off x="0" y="5970588"/>
            <a:ext cx="9144000" cy="887412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30C425-27A5-40AA-961A-8CFDE17FA4DD}"/>
              </a:ext>
            </a:extLst>
          </p:cNvPr>
          <p:cNvSpPr/>
          <p:nvPr/>
        </p:nvSpPr>
        <p:spPr>
          <a:xfrm>
            <a:off x="-9525" y="6053139"/>
            <a:ext cx="2249091" cy="7127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71B3EE-07D3-40CD-A5C9-E7B6A7D3EB55}"/>
              </a:ext>
            </a:extLst>
          </p:cNvPr>
          <p:cNvSpPr/>
          <p:nvPr/>
        </p:nvSpPr>
        <p:spPr>
          <a:xfrm>
            <a:off x="2358628" y="6043614"/>
            <a:ext cx="6785372" cy="7143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1950">
                <a:solidFill>
                  <a:srgbClr val="FFFFFF"/>
                </a:solidFill>
              </a:defRPr>
            </a:lvl1pPr>
            <a:lvl2pPr marL="342900" indent="0" algn="ctr">
              <a:buNone/>
            </a:lvl2pPr>
            <a:lvl3pPr marL="685800" indent="0" algn="ctr">
              <a:buNone/>
            </a:lvl3pPr>
            <a:lvl4pPr marL="1028700" indent="0" algn="ctr">
              <a:buNone/>
            </a:lvl4pPr>
            <a:lvl5pPr marL="1371600" indent="0" algn="ctr">
              <a:buNone/>
            </a:lvl5pPr>
            <a:lvl6pPr marL="1714500" indent="0" algn="ctr">
              <a:buNone/>
            </a:lvl6pPr>
            <a:lvl7pPr marL="2057400" indent="0" algn="ctr">
              <a:buNone/>
            </a:lvl7pPr>
            <a:lvl8pPr marL="2400300" indent="0" algn="ctr">
              <a:buNone/>
            </a:lvl8pPr>
            <a:lvl9pPr marL="2743200" indent="0" algn="ctr">
              <a:buNone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27">
            <a:extLst>
              <a:ext uri="{FF2B5EF4-FFF2-40B4-BE49-F238E27FC236}">
                <a16:creationId xmlns:a16="http://schemas.microsoft.com/office/drawing/2014/main" id="{3733BC89-84AA-4433-89FB-B7A7E5D13F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6069013"/>
            <a:ext cx="2057400" cy="685800"/>
          </a:xfrm>
        </p:spPr>
        <p:txBody>
          <a:bodyPr>
            <a:noAutofit/>
          </a:bodyPr>
          <a:lstStyle>
            <a:lvl1pPr algn="ctr">
              <a:defRPr sz="15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E9FDA555-E7D0-42F0-AC4C-4811C25EA4F9}" type="datetime8">
              <a:rPr lang="en-US" smtClean="0"/>
              <a:pPr>
                <a:defRPr/>
              </a:pPr>
              <a:t>5/21/2025 10:36 AM</a:t>
            </a:fld>
            <a:endParaRPr lang="en-US" dirty="0"/>
          </a:p>
        </p:txBody>
      </p:sp>
      <p:sp>
        <p:nvSpPr>
          <p:cNvPr id="10" name="Footer Placeholder 16">
            <a:extLst>
              <a:ext uri="{FF2B5EF4-FFF2-40B4-BE49-F238E27FC236}">
                <a16:creationId xmlns:a16="http://schemas.microsoft.com/office/drawing/2014/main" id="{52B60891-0B66-4CA7-88CB-DE5EC0A18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85975" y="236539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1" name="Slide Number Placeholder 28">
            <a:extLst>
              <a:ext uri="{FF2B5EF4-FFF2-40B4-BE49-F238E27FC236}">
                <a16:creationId xmlns:a16="http://schemas.microsoft.com/office/drawing/2014/main" id="{CBE7F8AC-DBDA-417F-981D-F15B3426B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 sz="105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98247BE2-61CD-463C-AD78-643FCA7B2A7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8426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7D23AF-71EC-4251-B17F-BDD25760D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A5EB19C7-A313-4953-8844-CFDFBDB67712}" type="datetime8">
              <a:rPr lang="en-US" smtClean="0"/>
              <a:pPr>
                <a:defRPr/>
              </a:pPr>
              <a:t>5/21/2025 10:36 AM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1A2D69-AA10-4583-9E8F-0A4D9446E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6E2A9D-5CE7-4FA5-BC28-FB271F754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78BBDA1B-EB2C-49E2-A1CF-4342CA4EF36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72305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9230AD3-0C7A-45F5-A43D-9C62B1FE456E}"/>
              </a:ext>
            </a:extLst>
          </p:cNvPr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57C25B-6FC9-4FB2-9E6E-4912144234FE}"/>
              </a:ext>
            </a:extLst>
          </p:cNvPr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C32344-6E1C-4BEB-B4E3-5CFAA72A62DD}"/>
              </a:ext>
            </a:extLst>
          </p:cNvPr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1" y="2743200"/>
            <a:ext cx="7123113" cy="1673225"/>
          </a:xfrm>
        </p:spPr>
        <p:txBody>
          <a:bodyPr/>
          <a:lstStyle>
            <a:lvl1pPr>
              <a:buNone/>
              <a:defRPr sz="2100">
                <a:solidFill>
                  <a:schemeClr val="tx2"/>
                </a:solidFill>
              </a:defRPr>
            </a:lvl1pPr>
            <a:lvl2pPr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3300" b="0" cap="none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11">
            <a:extLst>
              <a:ext uri="{FF2B5EF4-FFF2-40B4-BE49-F238E27FC236}">
                <a16:creationId xmlns:a16="http://schemas.microsoft.com/office/drawing/2014/main" id="{4E06E9CF-DCA0-4469-9588-146DDA3B6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650DA2-C70C-4FFB-9E2D-CA69753C4E81}" type="datetime8">
              <a:rPr lang="en-US" smtClean="0"/>
              <a:pPr>
                <a:defRPr/>
              </a:pPr>
              <a:t>5/21/2025 10:36 AM</a:t>
            </a:fld>
            <a:endParaRPr lang="en-US" dirty="0"/>
          </a:p>
        </p:txBody>
      </p:sp>
      <p:sp>
        <p:nvSpPr>
          <p:cNvPr id="8" name="Slide Number Placeholder 12">
            <a:extLst>
              <a:ext uri="{FF2B5EF4-FFF2-40B4-BE49-F238E27FC236}">
                <a16:creationId xmlns:a16="http://schemas.microsoft.com/office/drawing/2014/main" id="{024E1A5F-0041-47BD-AB34-3894313F5A8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0" y="1752601"/>
            <a:ext cx="1295400" cy="701675"/>
          </a:xfrm>
        </p:spPr>
        <p:txBody>
          <a:bodyPr>
            <a:noAutofit/>
          </a:bodyPr>
          <a:lstStyle>
            <a:lvl1pPr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666A1CEC-9DD6-4F71-8FF7-224B44B36D7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Footer Placeholder 13">
            <a:extLst>
              <a:ext uri="{FF2B5EF4-FFF2-40B4-BE49-F238E27FC236}">
                <a16:creationId xmlns:a16="http://schemas.microsoft.com/office/drawing/2014/main" id="{3F02C43B-73CC-4732-8E2B-39CB4F86C03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093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7">
            <a:extLst>
              <a:ext uri="{FF2B5EF4-FFF2-40B4-BE49-F238E27FC236}">
                <a16:creationId xmlns:a16="http://schemas.microsoft.com/office/drawing/2014/main" id="{38A05C4A-FA42-4D8C-B6A5-0F623E6EB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02A22236-1168-4432-ABC0-6C926F115FB2}" type="datetime8">
              <a:rPr lang="en-US" smtClean="0"/>
              <a:pPr>
                <a:defRPr/>
              </a:pPr>
              <a:t>5/21/2025 10:36 AM</a:t>
            </a:fld>
            <a:endParaRPr lang="en-US" dirty="0"/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675BC25A-D772-4BAD-82C5-8DE60CDA041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 sz="10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7D9237E2-D6D8-4F93-B4E7-7A3A919C426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11">
            <a:extLst>
              <a:ext uri="{FF2B5EF4-FFF2-40B4-BE49-F238E27FC236}">
                <a16:creationId xmlns:a16="http://schemas.microsoft.com/office/drawing/2014/main" id="{A359C2BF-21AF-4D80-AF5B-B2C0FCB014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32460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15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15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9">
            <a:extLst>
              <a:ext uri="{FF2B5EF4-FFF2-40B4-BE49-F238E27FC236}">
                <a16:creationId xmlns:a16="http://schemas.microsoft.com/office/drawing/2014/main" id="{31028AF4-9E92-4B7F-8FF5-70E8FC8CF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dirty="0"/>
            </a:lvl1pPr>
          </a:lstStyle>
          <a:p>
            <a:pPr>
              <a:defRPr/>
            </a:pPr>
            <a:fld id="{3D2B433E-0492-43EF-A4EE-44302D691569}" type="datetime8">
              <a:rPr lang="en-US" smtClean="0"/>
              <a:pPr>
                <a:defRPr/>
              </a:pPr>
              <a:t>5/21/2025 10:36 AM</a:t>
            </a:fld>
            <a:endParaRPr lang="en-US" dirty="0"/>
          </a:p>
        </p:txBody>
      </p:sp>
      <p:sp>
        <p:nvSpPr>
          <p:cNvPr id="8" name="Slide Number Placeholder 11">
            <a:extLst>
              <a:ext uri="{FF2B5EF4-FFF2-40B4-BE49-F238E27FC236}">
                <a16:creationId xmlns:a16="http://schemas.microsoft.com/office/drawing/2014/main" id="{E1D98D76-29B8-4104-9B56-41E0C2B6C0C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 sz="10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04194F72-16B3-45E5-89BA-A531D9C6F90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Footer Placeholder 13">
            <a:extLst>
              <a:ext uri="{FF2B5EF4-FFF2-40B4-BE49-F238E27FC236}">
                <a16:creationId xmlns:a16="http://schemas.microsoft.com/office/drawing/2014/main" id="{9ABC4DA1-E98C-46DB-8CFC-528377A9ECF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8726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9D27DB-781C-4E9A-BD52-304D332D3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E7950DC9-D196-45CC-BA9F-D6D5EE325BD5}" type="datetime8">
              <a:rPr lang="en-US" smtClean="0"/>
              <a:pPr>
                <a:defRPr/>
              </a:pPr>
              <a:t>5/21/2025 10:36 AM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486506-D8E7-4646-B7C2-4FD747079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153B6E-7646-4B77-8451-44B7A82A0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0D1442FA-41D6-4256-AB11-698261B17F2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329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D99147-29DF-4A7C-8453-281A248DF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E3B4A3-0DFD-4DB7-87BB-BDD024516FD0}" type="datetime8">
              <a:rPr lang="en-US" smtClean="0"/>
              <a:pPr>
                <a:defRPr/>
              </a:pPr>
              <a:t>5/21/2025 10:36 AM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537661-D16B-47AD-A3C6-F4279F63C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1F0016-F045-4EFE-9DBB-8B83615EE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 sz="105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FA9458CC-7BDB-4AF7-84A8-156B462129C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8878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 descr="sm_globe.png">
            <a:extLst>
              <a:ext uri="{FF2B5EF4-FFF2-40B4-BE49-F238E27FC236}">
                <a16:creationId xmlns:a16="http://schemas.microsoft.com/office/drawing/2014/main" id="{09D0E091-9432-4B8A-83A8-FAA0571AE4C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172" y="1755775"/>
            <a:ext cx="1614488" cy="1689100"/>
          </a:xfrm>
          <a:prstGeom prst="rect">
            <a:avLst/>
          </a:prstGeom>
          <a:noFill/>
          <a:ln w="50800" cap="sq" cmpd="dbl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/>
          <a:lstStyle>
            <a:lvl1pPr algn="l">
              <a:buNone/>
              <a:defRPr sz="33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CA5AAB-E0EE-42C4-9DC4-6495C8701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3168CF-9361-4963-AFD4-61E898C8E6D4}" type="datetime8">
              <a:rPr lang="en-US" smtClean="0"/>
              <a:pPr>
                <a:defRPr/>
              </a:pPr>
              <a:t>5/21/2025 10:36 AM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874615-F617-433B-BCA5-EEDB193A1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E2315F-E1FB-4BBC-9A69-9E76F9217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51AC466F-202A-449E-ABD9-88FA7D41381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27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DC81B99-AD79-4350-B1B4-4A9A5B2E1411}"/>
              </a:ext>
            </a:extLst>
          </p:cNvPr>
          <p:cNvSpPr/>
          <p:nvPr/>
        </p:nvSpPr>
        <p:spPr bwMode="white">
          <a:xfrm>
            <a:off x="-9525" y="4572001"/>
            <a:ext cx="9144000" cy="887413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B30C86-7539-4707-BB1E-130DEE07594C}"/>
              </a:ext>
            </a:extLst>
          </p:cNvPr>
          <p:cNvSpPr/>
          <p:nvPr/>
        </p:nvSpPr>
        <p:spPr>
          <a:xfrm>
            <a:off x="-9525" y="4664075"/>
            <a:ext cx="1463279" cy="7127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3F932B-EE3A-413F-8794-3061763118EA}"/>
              </a:ext>
            </a:extLst>
          </p:cNvPr>
          <p:cNvSpPr/>
          <p:nvPr/>
        </p:nvSpPr>
        <p:spPr>
          <a:xfrm>
            <a:off x="1544241" y="4654550"/>
            <a:ext cx="7599759" cy="712788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ACDC2E-C064-4B1C-9FEF-B25D088F4C9E}"/>
              </a:ext>
            </a:extLst>
          </p:cNvPr>
          <p:cNvSpPr/>
          <p:nvPr/>
        </p:nvSpPr>
        <p:spPr bwMode="white">
          <a:xfrm>
            <a:off x="1447800" y="1"/>
            <a:ext cx="100013" cy="6867525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275"/>
            </a:lvl1pPr>
            <a:lvl2pPr>
              <a:buFontTx/>
              <a:buNone/>
              <a:defRPr sz="900"/>
            </a:lvl2pPr>
            <a:lvl3pPr>
              <a:buFontTx/>
              <a:buNone/>
              <a:defRPr sz="750"/>
            </a:lvl3pPr>
            <a:lvl4pPr>
              <a:buFontTx/>
              <a:buNone/>
              <a:defRPr sz="675"/>
            </a:lvl4pPr>
            <a:lvl5pPr>
              <a:buFontTx/>
              <a:buNone/>
              <a:defRPr sz="675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/>
          <a:lstStyle>
            <a:lvl1pPr algn="l">
              <a:buNone/>
              <a:defRPr sz="21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9" name="Date Placeholder 11">
            <a:extLst>
              <a:ext uri="{FF2B5EF4-FFF2-40B4-BE49-F238E27FC236}">
                <a16:creationId xmlns:a16="http://schemas.microsoft.com/office/drawing/2014/main" id="{6F6A6835-255E-4F53-B0A2-B0B3683D2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48400" y="6248401"/>
            <a:ext cx="2667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6A64BEE4-B63B-4B07-A227-E3BC01DE73A7}" type="datetime8">
              <a:rPr lang="en-US" smtClean="0"/>
              <a:pPr>
                <a:defRPr/>
              </a:pPr>
              <a:t>5/21/2025 10:36 AM</a:t>
            </a:fld>
            <a:endParaRPr lang="en-US" dirty="0"/>
          </a:p>
        </p:txBody>
      </p:sp>
      <p:sp>
        <p:nvSpPr>
          <p:cNvPr id="10" name="Slide Number Placeholder 12">
            <a:extLst>
              <a:ext uri="{FF2B5EF4-FFF2-40B4-BE49-F238E27FC236}">
                <a16:creationId xmlns:a16="http://schemas.microsoft.com/office/drawing/2014/main" id="{32BA4851-7472-4558-AF6A-2F94ED631D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0" y="4667251"/>
            <a:ext cx="1447800" cy="663575"/>
          </a:xfrm>
        </p:spPr>
        <p:txBody>
          <a:bodyPr rtlCol="0"/>
          <a:lstStyle>
            <a:lvl1pPr>
              <a:defRPr sz="21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A8110B99-22AD-4655-8E97-9D99EF66D44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" name="Footer Placeholder 13">
            <a:extLst>
              <a:ext uri="{FF2B5EF4-FFF2-40B4-BE49-F238E27FC236}">
                <a16:creationId xmlns:a16="http://schemas.microsoft.com/office/drawing/2014/main" id="{8C69500C-8063-44CD-BB8C-9F570B8D59C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600200" y="6248401"/>
            <a:ext cx="4572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9822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49E2AC5C-2BDA-4ED0-A8CA-408672F79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759BA1-3B3D-49D7-B679-4527783122F8}" type="datetime8">
              <a:rPr lang="en-US" smtClean="0"/>
              <a:pPr>
                <a:defRPr/>
              </a:pPr>
              <a:t>5/21/2025 10:36 AM</a:t>
            </a:fld>
            <a:endParaRPr lang="en-US" dirty="0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09DD99E1-9A49-4EB3-9467-57A67F5FE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02BB8BDF-113A-4D93-A64B-0BF6D345E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720B14-E841-43C9-B349-AC4B576B0B80}" type="slidenum">
              <a:rPr lang="en-US"/>
              <a:pPr>
                <a:defRPr/>
              </a:pPr>
              <a:t>‹#›</a:t>
            </a:fld>
            <a:endParaRPr lang="en-US" sz="105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8289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C8BDF40-E20B-4BD8-84C1-E65583DF3F27}"/>
              </a:ext>
            </a:extLst>
          </p:cNvPr>
          <p:cNvSpPr/>
          <p:nvPr/>
        </p:nvSpPr>
        <p:spPr bwMode="white">
          <a:xfrm>
            <a:off x="6096000" y="0"/>
            <a:ext cx="320279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629C48-D796-4AA1-B2C2-92BDFCA12EB1}"/>
              </a:ext>
            </a:extLst>
          </p:cNvPr>
          <p:cNvSpPr/>
          <p:nvPr/>
        </p:nvSpPr>
        <p:spPr>
          <a:xfrm>
            <a:off x="6142435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29E37C-2198-4D37-B81B-E710DF5B30FF}"/>
              </a:ext>
            </a:extLst>
          </p:cNvPr>
          <p:cNvSpPr/>
          <p:nvPr/>
        </p:nvSpPr>
        <p:spPr>
          <a:xfrm>
            <a:off x="6142435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2"/>
            <a:ext cx="2057400" cy="55165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B7357676-74DF-4791-B288-69977DC969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53200" y="6248401"/>
            <a:ext cx="2209800" cy="365125"/>
          </a:xfrm>
        </p:spPr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9126EFFC-9F40-4763-B739-1C539166ACDE}" type="datetime8">
              <a:rPr lang="en-US" smtClean="0"/>
              <a:pPr>
                <a:defRPr/>
              </a:pPr>
              <a:t>5/21/2025 10:36 AM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5691A4D-8A37-4BF3-AA0E-515C11694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248401"/>
            <a:ext cx="5573316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276B00B-ADE0-415F-8138-D1827CD9F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5400000">
            <a:off x="5989439" y="144661"/>
            <a:ext cx="533400" cy="244079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ABE1C5-EE8B-4BC6-9CA6-2359143DF2B8}" type="slidenum">
              <a:rPr lang="en-US"/>
              <a:pPr>
                <a:defRPr/>
              </a:pPr>
              <a:t>‹#›</a:t>
            </a:fld>
            <a:endParaRPr lang="en-US" sz="105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5999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5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2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>
            <a:extLst>
              <a:ext uri="{FF2B5EF4-FFF2-40B4-BE49-F238E27FC236}">
                <a16:creationId xmlns:a16="http://schemas.microsoft.com/office/drawing/2014/main" id="{A4F6F228-293F-451A-B398-4A2C5AA16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0054C995-A101-40E4-88AF-8CCA2230FDF4}" type="datetime8">
              <a:rPr lang="en-US" smtClean="0"/>
              <a:pPr>
                <a:defRPr/>
              </a:pPr>
              <a:t>5/21/2025 10:36 AM</a:t>
            </a:fld>
            <a:endParaRPr lang="en-US" dirty="0"/>
          </a:p>
        </p:txBody>
      </p:sp>
      <p:sp>
        <p:nvSpPr>
          <p:cNvPr id="6" name="Footer Placeholder 21">
            <a:extLst>
              <a:ext uri="{FF2B5EF4-FFF2-40B4-BE49-F238E27FC236}">
                <a16:creationId xmlns:a16="http://schemas.microsoft.com/office/drawing/2014/main" id="{CCA5FA8B-1308-4FEA-BD7F-309CB5786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17">
            <a:extLst>
              <a:ext uri="{FF2B5EF4-FFF2-40B4-BE49-F238E27FC236}">
                <a16:creationId xmlns:a16="http://schemas.microsoft.com/office/drawing/2014/main" id="{4ABA97CD-1067-4741-8A30-677826546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A8C804-4DE3-41CC-98C1-05EC14125A5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4479020"/>
      </p:ext>
    </p:extLst>
  </p:cSld>
  <p:clrMapOvr>
    <a:masterClrMapping/>
  </p:clrMapOvr>
  <p:transition>
    <p:dissolv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33575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21">
            <a:extLst>
              <a:ext uri="{FF2B5EF4-FFF2-40B4-BE49-F238E27FC236}">
                <a16:creationId xmlns:a16="http://schemas.microsoft.com/office/drawing/2014/main" id="{08246714-135A-4141-B338-011310AA9C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28600"/>
            <a:ext cx="81534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Text Placeholder 12">
            <a:extLst>
              <a:ext uri="{FF2B5EF4-FFF2-40B4-BE49-F238E27FC236}">
                <a16:creationId xmlns:a16="http://schemas.microsoft.com/office/drawing/2014/main" id="{8F4F6B3D-18ED-42C1-A268-20AE208D89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13172" y="1600201"/>
            <a:ext cx="8153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B0DC14AD-E591-4E58-B1A5-35E0EC9234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0" y="6248401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50" dirty="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6932F45-0E06-4599-AAE4-53FB7B523600}" type="datetime8">
              <a:rPr lang="en-US" smtClean="0"/>
              <a:pPr>
                <a:defRPr/>
              </a:pPr>
              <a:t>5/21/2025 10:36 AM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26FEA4-D403-4009-AE9A-7A81A9DD7A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600" y="6248401"/>
            <a:ext cx="5420916" cy="365125"/>
          </a:xfrm>
          <a:prstGeom prst="rect">
            <a:avLst/>
          </a:prstGeom>
        </p:spPr>
        <p:txBody>
          <a:bodyPr vert="horz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05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4241F5-43F5-4215-A37F-BA0C8B434726}"/>
              </a:ext>
            </a:extLst>
          </p:cNvPr>
          <p:cNvSpPr/>
          <p:nvPr/>
        </p:nvSpPr>
        <p:spPr bwMode="white">
          <a:xfrm>
            <a:off x="0" y="1235075"/>
            <a:ext cx="9144000" cy="31908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9CE3FE-C047-4327-A035-6DFB11A6800F}"/>
              </a:ext>
            </a:extLst>
          </p:cNvPr>
          <p:cNvSpPr/>
          <p:nvPr/>
        </p:nvSpPr>
        <p:spPr>
          <a:xfrm>
            <a:off x="0" y="1279525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AC8A25-7CFF-4E69-B8EE-4718F8D4EF3C}"/>
              </a:ext>
            </a:extLst>
          </p:cNvPr>
          <p:cNvSpPr/>
          <p:nvPr/>
        </p:nvSpPr>
        <p:spPr>
          <a:xfrm>
            <a:off x="590550" y="1279525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6567ECF-60C7-489E-AFDA-40C4EB8073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1271589"/>
            <a:ext cx="533400" cy="244475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 b="1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683ACCE-3850-4732-B3C7-553D9AFBE5E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  <p:sldLayoutId id="2147483834" r:id="rId12"/>
    <p:sldLayoutId id="2147483835" r:id="rId13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3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w Cen MT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w Cen MT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w Cen MT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w Cen MT" pitchFamily="34" charset="0"/>
        </a:defRPr>
      </a:lvl5pPr>
      <a:lvl6pPr marL="342900" algn="l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w Cen MT" pitchFamily="34" charset="0"/>
        </a:defRPr>
      </a:lvl6pPr>
      <a:lvl7pPr marL="685800" algn="l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w Cen MT" pitchFamily="34" charset="0"/>
        </a:defRPr>
      </a:lvl7pPr>
      <a:lvl8pPr marL="1028700" algn="l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w Cen MT" pitchFamily="34" charset="0"/>
        </a:defRPr>
      </a:lvl8pPr>
      <a:lvl9pPr marL="1371600" algn="l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w Cen MT" pitchFamily="34" charset="0"/>
        </a:defRPr>
      </a:lvl9pPr>
    </p:titleStyle>
    <p:bodyStyle>
      <a:lvl1pPr marL="239316" indent="-239316" algn="l" rtl="0" eaLnBrk="0" fontAlgn="base" hangingPunct="0">
        <a:spcBef>
          <a:spcPts val="525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"/>
        <a:defRPr sz="2175" kern="1200">
          <a:solidFill>
            <a:schemeClr val="tx1"/>
          </a:solidFill>
          <a:latin typeface="+mn-lt"/>
          <a:ea typeface="+mn-ea"/>
          <a:cs typeface="+mn-cs"/>
        </a:defRPr>
      </a:lvl1pPr>
      <a:lvl2pPr marL="479822" indent="-204788" algn="l" rtl="0" eaLnBrk="0" fontAlgn="base" hangingPunct="0">
        <a:spcBef>
          <a:spcPts val="413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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7145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75000"/>
        <a:buFont typeface="Wingdings" panose="05000000000000000000" pitchFamily="2" charset="2"/>
        <a:buChar char=""/>
        <a:defRPr sz="1725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indent="-171450" algn="l" rtl="0" eaLnBrk="0" fontAlgn="base" hangingPunct="0">
        <a:spcBef>
          <a:spcPts val="300"/>
        </a:spcBef>
        <a:spcAft>
          <a:spcPct val="0"/>
        </a:spcAft>
        <a:buClr>
          <a:srgbClr val="A04DA3"/>
        </a:buClr>
        <a:buSzPct val="75000"/>
        <a:buFont typeface="Wingdings" panose="05000000000000000000" pitchFamily="2" charset="2"/>
        <a:buChar char="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171450" algn="l" rtl="0" eaLnBrk="0" fontAlgn="base" hangingPunct="0">
        <a:spcBef>
          <a:spcPts val="300"/>
        </a:spcBef>
        <a:spcAft>
          <a:spcPct val="0"/>
        </a:spcAft>
        <a:buClr>
          <a:srgbClr val="C4652D"/>
        </a:buClr>
        <a:buSzPct val="65000"/>
        <a:buFont typeface="Wingdings" panose="05000000000000000000" pitchFamily="2" charset="2"/>
        <a:buChar char="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577340" indent="-17145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sz="135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83080" indent="-17145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sz="135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988820" indent="-17145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sz="135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7145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sz="135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A85A211-1621-40B3-8498-92D63F04F9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49237" y="6146363"/>
            <a:ext cx="6454086" cy="514350"/>
          </a:xfrm>
        </p:spPr>
        <p:txBody>
          <a:bodyPr>
            <a:noAutofit/>
          </a:bodyPr>
          <a:lstStyle/>
          <a:p>
            <a:pPr algn="just" eaLnBrk="1" fontAlgn="auto" hangingPunct="1">
              <a:spcAft>
                <a:spcPts val="0"/>
              </a:spcAft>
              <a:defRPr/>
            </a:pPr>
            <a:r>
              <a:rPr lang="en-US" sz="19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Institute of Engineering &amp; Technology (Autonomous)</a:t>
            </a:r>
          </a:p>
        </p:txBody>
      </p:sp>
      <p:pic>
        <p:nvPicPr>
          <p:cNvPr id="17412" name="Picture 6" descr="shrast.png">
            <a:extLst>
              <a:ext uri="{FF2B5EF4-FFF2-40B4-BE49-F238E27FC236}">
                <a16:creationId xmlns:a16="http://schemas.microsoft.com/office/drawing/2014/main" id="{863684A2-ACEE-402C-8327-54A4870815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635" y="6134848"/>
            <a:ext cx="878038" cy="5373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7747A4E-E27F-440E-AC5C-08CA6872DEFA}"/>
              </a:ext>
            </a:extLst>
          </p:cNvPr>
          <p:cNvSpPr txBox="1">
            <a:spLocks/>
          </p:cNvSpPr>
          <p:nvPr/>
        </p:nvSpPr>
        <p:spPr bwMode="auto">
          <a:xfrm>
            <a:off x="1688306" y="1828800"/>
            <a:ext cx="37719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>
            <a:normAutofit fontScale="97500"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400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9pPr>
          </a:lstStyle>
          <a:p>
            <a:pPr eaLnBrk="1" hangingPunct="1">
              <a:defRPr/>
            </a:pPr>
            <a:endParaRPr lang="en-US" sz="2250" dirty="0">
              <a:solidFill>
                <a:srgbClr val="424456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415" name="TextBox 3">
            <a:extLst>
              <a:ext uri="{FF2B5EF4-FFF2-40B4-BE49-F238E27FC236}">
                <a16:creationId xmlns:a16="http://schemas.microsoft.com/office/drawing/2014/main" id="{829753C7-FA66-496E-A2F6-D15FD2486C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37108"/>
            <a:ext cx="9228083" cy="424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 b="1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pPr algn="ctr" eaLnBrk="1" hangingPunct="1"/>
            <a:endParaRPr lang="en-US" altLang="en-US" sz="2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lnSpc>
                <a:spcPct val="150000"/>
              </a:lnSpc>
            </a:pP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 Project (COM-811) Presentation</a:t>
            </a:r>
          </a:p>
          <a:p>
            <a:pPr algn="ctr" eaLnBrk="1" hangingPunct="1">
              <a:lnSpc>
                <a:spcPct val="150000"/>
              </a:lnSpc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B.Tech CSE 8</a:t>
            </a:r>
            <a:r>
              <a:rPr lang="en-US" altLang="en-US" sz="2400" b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| Batch 2021-2025</a:t>
            </a:r>
          </a:p>
          <a:p>
            <a:pPr algn="ctr" eaLnBrk="1" hangingPunct="1">
              <a:lnSpc>
                <a:spcPct val="150000"/>
              </a:lnSpc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 MOPI - LOCAL SEMANTIC SEARCH</a:t>
            </a:r>
          </a:p>
          <a:p>
            <a:pPr algn="ctr" eaLnBrk="1" hangingPunct="1"/>
            <a:endParaRPr lang="en-US" altLang="en-US" sz="2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/>
            <a:endParaRPr lang="en-US" altLang="en-US" sz="2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2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IN" altLang="en-US" sz="2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2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622074-7C1A-055B-C38B-7D91296FF636}"/>
              </a:ext>
            </a:extLst>
          </p:cNvPr>
          <p:cNvSpPr txBox="1"/>
          <p:nvPr/>
        </p:nvSpPr>
        <p:spPr>
          <a:xfrm>
            <a:off x="1080654" y="4346024"/>
            <a:ext cx="752763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80" b="1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</a:p>
          <a:p>
            <a:pPr algn="ctr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OpenCode Team</a:t>
            </a:r>
          </a:p>
          <a:p>
            <a:pPr algn="ctr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Name (Roll No)</a:t>
            </a:r>
          </a:p>
          <a:p>
            <a:pPr algn="ctr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Name (Roll No)</a:t>
            </a:r>
          </a:p>
          <a:p>
            <a:pPr algn="ctr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Name (Roll No)</a:t>
            </a:r>
          </a:p>
        </p:txBody>
      </p:sp>
      <p:pic>
        <p:nvPicPr>
          <p:cNvPr id="8" name="Picture 7" descr="A logo with a letter m&#10;&#10;Description automatically generated">
            <a:extLst>
              <a:ext uri="{FF2B5EF4-FFF2-40B4-BE49-F238E27FC236}">
                <a16:creationId xmlns:a16="http://schemas.microsoft.com/office/drawing/2014/main" id="{E7CC7D9B-1886-E6F2-D84E-1509681009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6186" y="2909457"/>
            <a:ext cx="6278641" cy="1569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404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5DFD5-DCAA-E5A0-62FF-4CC73C576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3F4158E-5F48-D6BF-1598-DA1C9B7672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56367"/>
            <a:ext cx="8153400" cy="738352"/>
          </a:xfrm>
        </p:spPr>
        <p:txBody>
          <a:bodyPr/>
          <a:lstStyle/>
          <a:p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BD38FBEE-3D6C-BF67-6B9A-F1948934034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9186" y="1616364"/>
            <a:ext cx="8740429" cy="5191658"/>
          </a:xfrm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461963" indent="-346075">
              <a:spcAft>
                <a:spcPts val="10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Introduction &amp; Problem Statement</a:t>
            </a:r>
          </a:p>
          <a:p>
            <a:pPr marL="461963" indent="-346075">
              <a:spcAft>
                <a:spcPts val="10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  <a:p>
            <a:pPr marL="461963" indent="-346075">
              <a:spcAft>
                <a:spcPts val="10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Proposed Solution &amp; Innovation</a:t>
            </a:r>
          </a:p>
          <a:p>
            <a:pPr marL="461963" indent="-346075">
              <a:spcAft>
                <a:spcPts val="10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Methodology (Technology Stack)</a:t>
            </a:r>
          </a:p>
          <a:p>
            <a:pPr marL="461963" indent="-346075">
              <a:spcAft>
                <a:spcPts val="10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 Architecture / Workflow</a:t>
            </a:r>
          </a:p>
          <a:p>
            <a:pPr marL="461963" indent="-346075">
              <a:spcAft>
                <a:spcPts val="10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Implementation </a:t>
            </a:r>
          </a:p>
          <a:p>
            <a:pPr marL="461963" indent="-346075">
              <a:spcAft>
                <a:spcPts val="10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Results / Outcomes</a:t>
            </a:r>
          </a:p>
          <a:p>
            <a:pPr marL="461963" indent="-346075">
              <a:spcAft>
                <a:spcPts val="10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  <a:p>
            <a:pPr marL="461963" indent="-346075">
              <a:spcAft>
                <a:spcPts val="10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FB351EA-5CDE-CBDF-7FE6-78CF39AE0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fld id="{F8D28E11-6266-47C4-B1CE-C6D99AC79DCA}" type="slidenum">
              <a:rPr lang="en-US" altLang="en-US"/>
              <a:pPr>
                <a:defRPr/>
              </a:pPr>
              <a:t>2</a:t>
            </a:fld>
            <a:endParaRPr lang="en-US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C88F4E-D4A1-85B2-4133-D179E4DA151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9624" y="2732809"/>
            <a:ext cx="3159991" cy="3159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128847"/>
      </p:ext>
    </p:extLst>
  </p:cSld>
  <p:clrMapOvr>
    <a:masterClrMapping/>
  </p:clrMapOvr>
</p:sld>
</file>

<file path=ppt/slides/slide3.xml><?xml version="1.0" encoding="utf-8"?>
<p:sld xmlns:a="http://schemas.openxmlformats.org/drawingml/2006/main" xmlns:ns2="http://schemas.microsoft.com/office/drawing/2014/main" xmlns:ns3="http://schemas.microsoft.com/office/drawing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ns2:creationId id="{EE0CDBD5-21F7-77E5-85FD-15E6BA3AA1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 &amp; Problem Statement</a:t>
            </a:r>
          </a:p>
        </p:txBody>
      </p:sp>
      <p:sp>
        <p:nvSpPr>
          <p:cNvPr id="9" name="Slide Number Placeholder 5">
            <a:extLst>
              <a:ext uri="{FF2B5EF4-FFF2-40B4-BE49-F238E27FC236}">
                <ns2:creationId id="{DE894D0B-7C4B-1AD0-0286-F8D9258CE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r>
              <a:t>The Latency Trap:** Cloud-based semantic search (OpenAI, etc.) introduces network overhead (500ms+), breaking the "search-as-you-type" experience.</a:t>
            </a:r>
          </a:p>
          <a:p>
            <a:r>
              <a:t>The Privacy Gap:** Traditional local search is keyword-only. Modern semantic search often requires uploading private files to third-party servers.</a:t>
            </a:r>
          </a:p>
          <a:p>
            <a:r>
              <a:t>The Intelligence Ceiling:** Lexical search (grep, etc.) fails on synonyms and conceptual intent.</a:t>
            </a:r>
          </a:p>
        </p:txBody>
      </p:sp>
      <p:sp>
        <p:nvSpPr>
          <p:cNvPr id="7173" name="Rectangle 4">
            <a:extLst>
              <a:ext uri="{FF2B5EF4-FFF2-40B4-BE49-F238E27FC236}">
                <ns2:creationId id="{CCF10E69-2F7C-7136-8E95-3F4D6CDBDF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6050" y="32099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3:hiddenFill>
                <a:solidFill>
                  <a:schemeClr val="accent1"/>
                </a:solidFill>
              </ns3:hiddenFill>
            </a:ext>
            <a:ext uri="{91240B29-F687-4F45-9708-019B960494DF}">
              <ns3:hiddenLine w="9525">
                <a:solidFill>
                  <a:schemeClr val="tx1"/>
                </a:solidFill>
                <a:miter lim="800000"/>
                <a:headEnd/>
                <a:tailEnd/>
              </ns3:hiddenLine>
            </a:ext>
            <a:ext uri="{AF507438-7753-43E0-B8FC-AC1667EBCBE1}">
              <ns3:hiddenEffects>
                <a:effectLst>
                  <a:outerShdw dist="35921" dir="2700000" algn="ctr" rotWithShape="0">
                    <a:schemeClr val="bg2"/>
                  </a:outerShdw>
                </a:effectLst>
              </ns3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IN" altLang="en-US"/>
          </a:p>
        </p:txBody>
      </p:sp>
      <p:sp>
        <p:nvSpPr>
          <p:cNvPr id="4" name="Freeform 2">
            <a:extLst>
              <a:ext uri="{FF2B5EF4-FFF2-40B4-BE49-F238E27FC236}">
                <ns2:creationId id="{923ABB7A-6DB7-D051-4088-75BF02A5E803}"/>
              </a:ext>
            </a:extLst>
          </p:cNvPr>
          <p:cNvSpPr/>
          <p:nvPr/>
        </p:nvSpPr>
        <p:spPr>
          <a:xfrm>
            <a:off x="3403158" y="1636507"/>
            <a:ext cx="5513965" cy="3396660"/>
          </a:xfrm>
          <a:custGeom>
            <a:avLst/>
            <a:gdLst/>
            <a:ahLst/>
            <a:cxnLst/>
            <a:rect l="l" t="t" r="r" b="b"/>
            <a:pathLst>
              <a:path w="11009442" h="6633793">
                <a:moveTo>
                  <a:pt x="0" y="0"/>
                </a:moveTo>
                <a:lnTo>
                  <a:pt x="11009443" y="0"/>
                </a:lnTo>
                <a:lnTo>
                  <a:pt x="11009443" y="6633793"/>
                </a:lnTo>
                <a:lnTo>
                  <a:pt x="0" y="66337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530" b="-28237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ns2:creationId id="{D2E647C3-AB35-7678-4AF9-41563AEE0B48}"/>
              </a:ext>
            </a:extLst>
          </p:cNvPr>
          <p:cNvGrpSpPr/>
          <p:nvPr/>
        </p:nvGrpSpPr>
        <p:grpSpPr>
          <a:xfrm>
            <a:off x="285375" y="1831986"/>
            <a:ext cx="2791780" cy="1738150"/>
            <a:chOff x="-19304" y="-3175"/>
            <a:chExt cx="17589639" cy="13133011"/>
          </a:xfrm>
        </p:grpSpPr>
        <p:sp>
          <p:nvSpPr>
            <p:cNvPr id="6" name="Freeform 5">
              <a:extLst>
                <a:ext uri="{FF2B5EF4-FFF2-40B4-BE49-F238E27FC236}">
                  <ns2:creationId id="{B9DE5C90-D9E4-34EB-1C37-DE1F5F27B339}"/>
                </a:ext>
              </a:extLst>
            </p:cNvPr>
            <p:cNvSpPr/>
            <p:nvPr/>
          </p:nvSpPr>
          <p:spPr>
            <a:xfrm>
              <a:off x="-19304" y="-3175"/>
              <a:ext cx="17589639" cy="13133011"/>
            </a:xfrm>
            <a:custGeom>
              <a:avLst/>
              <a:gdLst/>
              <a:ahLst/>
              <a:cxnLst/>
              <a:rect l="l" t="t" r="r" b="b"/>
              <a:pathLst>
                <a:path w="17589639" h="13133011">
                  <a:moveTo>
                    <a:pt x="17564873" y="12549318"/>
                  </a:moveTo>
                  <a:cubicBezTo>
                    <a:pt x="17543157" y="12666666"/>
                    <a:pt x="17494389" y="12817923"/>
                    <a:pt x="17409046" y="12901616"/>
                  </a:cubicBezTo>
                  <a:cubicBezTo>
                    <a:pt x="17223752" y="13083226"/>
                    <a:pt x="16857611" y="13103165"/>
                    <a:pt x="16450575" y="13079797"/>
                  </a:cubicBezTo>
                  <a:cubicBezTo>
                    <a:pt x="16158221" y="13063034"/>
                    <a:pt x="15955021" y="13105960"/>
                    <a:pt x="15662160" y="13108753"/>
                  </a:cubicBezTo>
                  <a:cubicBezTo>
                    <a:pt x="15363964" y="13111547"/>
                    <a:pt x="15228328" y="13112817"/>
                    <a:pt x="14930005" y="13115612"/>
                  </a:cubicBezTo>
                  <a:cubicBezTo>
                    <a:pt x="10307154" y="13118405"/>
                    <a:pt x="2587498" y="13121199"/>
                    <a:pt x="2289302" y="13123993"/>
                  </a:cubicBezTo>
                  <a:cubicBezTo>
                    <a:pt x="1995678" y="13126788"/>
                    <a:pt x="1701800" y="13133011"/>
                    <a:pt x="1408303" y="13122342"/>
                  </a:cubicBezTo>
                  <a:cubicBezTo>
                    <a:pt x="1260348" y="13117009"/>
                    <a:pt x="1112393" y="13106975"/>
                    <a:pt x="965454" y="13089195"/>
                  </a:cubicBezTo>
                  <a:cubicBezTo>
                    <a:pt x="844931" y="13074590"/>
                    <a:pt x="723900" y="13056557"/>
                    <a:pt x="607949" y="13019853"/>
                  </a:cubicBezTo>
                  <a:cubicBezTo>
                    <a:pt x="501777" y="12986325"/>
                    <a:pt x="399542" y="12937049"/>
                    <a:pt x="315849" y="12862627"/>
                  </a:cubicBezTo>
                  <a:cubicBezTo>
                    <a:pt x="227203" y="12783760"/>
                    <a:pt x="170053" y="12678604"/>
                    <a:pt x="135636" y="12566083"/>
                  </a:cubicBezTo>
                  <a:cubicBezTo>
                    <a:pt x="98425" y="12444416"/>
                    <a:pt x="85852" y="12316527"/>
                    <a:pt x="71882" y="12190543"/>
                  </a:cubicBezTo>
                  <a:cubicBezTo>
                    <a:pt x="55626" y="12043858"/>
                    <a:pt x="40894" y="11897046"/>
                    <a:pt x="27813" y="11750107"/>
                  </a:cubicBezTo>
                  <a:cubicBezTo>
                    <a:pt x="14732" y="8416996"/>
                    <a:pt x="32004" y="7197418"/>
                    <a:pt x="22225" y="1259967"/>
                  </a:cubicBezTo>
                  <a:cubicBezTo>
                    <a:pt x="12319" y="1113282"/>
                    <a:pt x="30734" y="951865"/>
                    <a:pt x="33020" y="804799"/>
                  </a:cubicBezTo>
                  <a:cubicBezTo>
                    <a:pt x="35052" y="677926"/>
                    <a:pt x="0" y="445389"/>
                    <a:pt x="66040" y="335788"/>
                  </a:cubicBezTo>
                  <a:cubicBezTo>
                    <a:pt x="123444" y="240665"/>
                    <a:pt x="205232" y="159639"/>
                    <a:pt x="302387" y="105410"/>
                  </a:cubicBezTo>
                  <a:cubicBezTo>
                    <a:pt x="461137" y="16764"/>
                    <a:pt x="641858" y="2032"/>
                    <a:pt x="821055" y="10033"/>
                  </a:cubicBezTo>
                  <a:cubicBezTo>
                    <a:pt x="915289" y="10033"/>
                    <a:pt x="1009396" y="10287"/>
                    <a:pt x="1103630" y="10668"/>
                  </a:cubicBezTo>
                  <a:cubicBezTo>
                    <a:pt x="1675130" y="13081"/>
                    <a:pt x="2246503" y="21336"/>
                    <a:pt x="7071481" y="18796"/>
                  </a:cubicBezTo>
                  <a:cubicBezTo>
                    <a:pt x="14829802" y="17526"/>
                    <a:pt x="15095359" y="10541"/>
                    <a:pt x="15361044" y="5334"/>
                  </a:cubicBezTo>
                  <a:cubicBezTo>
                    <a:pt x="15634728" y="0"/>
                    <a:pt x="15908413" y="5334"/>
                    <a:pt x="16181972" y="10160"/>
                  </a:cubicBezTo>
                  <a:cubicBezTo>
                    <a:pt x="16459085" y="14986"/>
                    <a:pt x="16735691" y="13208"/>
                    <a:pt x="17012805" y="9144"/>
                  </a:cubicBezTo>
                  <a:cubicBezTo>
                    <a:pt x="17201654" y="6350"/>
                    <a:pt x="17447146" y="30734"/>
                    <a:pt x="17531220" y="230505"/>
                  </a:cubicBezTo>
                  <a:cubicBezTo>
                    <a:pt x="17555857" y="289052"/>
                    <a:pt x="17561953" y="353060"/>
                    <a:pt x="17563731" y="415925"/>
                  </a:cubicBezTo>
                  <a:cubicBezTo>
                    <a:pt x="17565890" y="488442"/>
                    <a:pt x="17565509" y="561086"/>
                    <a:pt x="17566270" y="633603"/>
                  </a:cubicBezTo>
                  <a:cubicBezTo>
                    <a:pt x="17567796" y="781558"/>
                    <a:pt x="17533123" y="1194054"/>
                    <a:pt x="17534774" y="3995238"/>
                  </a:cubicBezTo>
                  <a:cubicBezTo>
                    <a:pt x="17537949" y="11811321"/>
                    <a:pt x="17577321" y="11844849"/>
                    <a:pt x="17580369" y="12142791"/>
                  </a:cubicBezTo>
                  <a:cubicBezTo>
                    <a:pt x="17581765" y="12277920"/>
                    <a:pt x="17589639" y="12415714"/>
                    <a:pt x="17564873" y="12549318"/>
                  </a:cubicBezTo>
                  <a:close/>
                </a:path>
              </a:pathLst>
            </a:custGeom>
            <a:solidFill>
              <a:srgbClr val="E3EBFF"/>
            </a:solidFill>
          </p:spPr>
          <p:txBody>
            <a:bodyPr/>
            <a:lstStyle/>
            <a:p>
              <a:endParaRPr lang="en-I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" name="Group 4">
            <a:extLst>
              <a:ext uri="{FF2B5EF4-FFF2-40B4-BE49-F238E27FC236}">
                <ns2:creationId id="{EDC32727-C792-25D6-0A0A-3A027AF959D2}"/>
              </a:ext>
            </a:extLst>
          </p:cNvPr>
          <p:cNvGrpSpPr/>
          <p:nvPr/>
        </p:nvGrpSpPr>
        <p:grpSpPr>
          <a:xfrm>
            <a:off x="266700" y="4035268"/>
            <a:ext cx="2871293" cy="1825614"/>
            <a:chOff x="-19304" y="-3175"/>
            <a:chExt cx="17589639" cy="13133011"/>
          </a:xfrm>
        </p:grpSpPr>
        <p:sp>
          <p:nvSpPr>
            <p:cNvPr id="8" name="Freeform 5">
              <a:extLst>
                <a:ext uri="{FF2B5EF4-FFF2-40B4-BE49-F238E27FC236}">
                  <ns2:creationId id="{05B26750-55C8-BACE-14A5-9954E366F095}"/>
                </a:ext>
              </a:extLst>
            </p:cNvPr>
            <p:cNvSpPr/>
            <p:nvPr/>
          </p:nvSpPr>
          <p:spPr>
            <a:xfrm>
              <a:off x="-19304" y="-3175"/>
              <a:ext cx="17589639" cy="13133011"/>
            </a:xfrm>
            <a:custGeom>
              <a:avLst/>
              <a:gdLst/>
              <a:ahLst/>
              <a:cxnLst/>
              <a:rect l="l" t="t" r="r" b="b"/>
              <a:pathLst>
                <a:path w="17589639" h="13133011">
                  <a:moveTo>
                    <a:pt x="17564873" y="12549318"/>
                  </a:moveTo>
                  <a:cubicBezTo>
                    <a:pt x="17543157" y="12666666"/>
                    <a:pt x="17494389" y="12817923"/>
                    <a:pt x="17409046" y="12901616"/>
                  </a:cubicBezTo>
                  <a:cubicBezTo>
                    <a:pt x="17223752" y="13083226"/>
                    <a:pt x="16857611" y="13103165"/>
                    <a:pt x="16450575" y="13079797"/>
                  </a:cubicBezTo>
                  <a:cubicBezTo>
                    <a:pt x="16158221" y="13063034"/>
                    <a:pt x="15955021" y="13105960"/>
                    <a:pt x="15662160" y="13108753"/>
                  </a:cubicBezTo>
                  <a:cubicBezTo>
                    <a:pt x="15363964" y="13111547"/>
                    <a:pt x="15228328" y="13112817"/>
                    <a:pt x="14930005" y="13115612"/>
                  </a:cubicBezTo>
                  <a:cubicBezTo>
                    <a:pt x="10307154" y="13118405"/>
                    <a:pt x="2587498" y="13121199"/>
                    <a:pt x="2289302" y="13123993"/>
                  </a:cubicBezTo>
                  <a:cubicBezTo>
                    <a:pt x="1995678" y="13126788"/>
                    <a:pt x="1701800" y="13133011"/>
                    <a:pt x="1408303" y="13122342"/>
                  </a:cubicBezTo>
                  <a:cubicBezTo>
                    <a:pt x="1260348" y="13117009"/>
                    <a:pt x="1112393" y="13106975"/>
                    <a:pt x="965454" y="13089195"/>
                  </a:cubicBezTo>
                  <a:cubicBezTo>
                    <a:pt x="844931" y="13074590"/>
                    <a:pt x="723900" y="13056557"/>
                    <a:pt x="607949" y="13019853"/>
                  </a:cubicBezTo>
                  <a:cubicBezTo>
                    <a:pt x="501777" y="12986325"/>
                    <a:pt x="399542" y="12937049"/>
                    <a:pt x="315849" y="12862627"/>
                  </a:cubicBezTo>
                  <a:cubicBezTo>
                    <a:pt x="227203" y="12783760"/>
                    <a:pt x="170053" y="12678604"/>
                    <a:pt x="135636" y="12566083"/>
                  </a:cubicBezTo>
                  <a:cubicBezTo>
                    <a:pt x="98425" y="12444416"/>
                    <a:pt x="85852" y="12316527"/>
                    <a:pt x="71882" y="12190543"/>
                  </a:cubicBezTo>
                  <a:cubicBezTo>
                    <a:pt x="55626" y="12043858"/>
                    <a:pt x="40894" y="11897046"/>
                    <a:pt x="27813" y="11750107"/>
                  </a:cubicBezTo>
                  <a:cubicBezTo>
                    <a:pt x="14732" y="8416996"/>
                    <a:pt x="32004" y="7197418"/>
                    <a:pt x="22225" y="1259967"/>
                  </a:cubicBezTo>
                  <a:cubicBezTo>
                    <a:pt x="12319" y="1113282"/>
                    <a:pt x="30734" y="951865"/>
                    <a:pt x="33020" y="804799"/>
                  </a:cubicBezTo>
                  <a:cubicBezTo>
                    <a:pt x="35052" y="677926"/>
                    <a:pt x="0" y="445389"/>
                    <a:pt x="66040" y="335788"/>
                  </a:cubicBezTo>
                  <a:cubicBezTo>
                    <a:pt x="123444" y="240665"/>
                    <a:pt x="205232" y="159639"/>
                    <a:pt x="302387" y="105410"/>
                  </a:cubicBezTo>
                  <a:cubicBezTo>
                    <a:pt x="461137" y="16764"/>
                    <a:pt x="641858" y="2032"/>
                    <a:pt x="821055" y="10033"/>
                  </a:cubicBezTo>
                  <a:cubicBezTo>
                    <a:pt x="915289" y="10033"/>
                    <a:pt x="1009396" y="10287"/>
                    <a:pt x="1103630" y="10668"/>
                  </a:cubicBezTo>
                  <a:cubicBezTo>
                    <a:pt x="1675130" y="13081"/>
                    <a:pt x="2246503" y="21336"/>
                    <a:pt x="7071481" y="18796"/>
                  </a:cubicBezTo>
                  <a:cubicBezTo>
                    <a:pt x="14829802" y="17526"/>
                    <a:pt x="15095359" y="10541"/>
                    <a:pt x="15361044" y="5334"/>
                  </a:cubicBezTo>
                  <a:cubicBezTo>
                    <a:pt x="15634728" y="0"/>
                    <a:pt x="15908413" y="5334"/>
                    <a:pt x="16181972" y="10160"/>
                  </a:cubicBezTo>
                  <a:cubicBezTo>
                    <a:pt x="16459085" y="14986"/>
                    <a:pt x="16735691" y="13208"/>
                    <a:pt x="17012805" y="9144"/>
                  </a:cubicBezTo>
                  <a:cubicBezTo>
                    <a:pt x="17201654" y="6350"/>
                    <a:pt x="17447146" y="30734"/>
                    <a:pt x="17531220" y="230505"/>
                  </a:cubicBezTo>
                  <a:cubicBezTo>
                    <a:pt x="17555857" y="289052"/>
                    <a:pt x="17561953" y="353060"/>
                    <a:pt x="17563731" y="415925"/>
                  </a:cubicBezTo>
                  <a:cubicBezTo>
                    <a:pt x="17565890" y="488442"/>
                    <a:pt x="17565509" y="561086"/>
                    <a:pt x="17566270" y="633603"/>
                  </a:cubicBezTo>
                  <a:cubicBezTo>
                    <a:pt x="17567796" y="781558"/>
                    <a:pt x="17533123" y="1194054"/>
                    <a:pt x="17534774" y="3995238"/>
                  </a:cubicBezTo>
                  <a:cubicBezTo>
                    <a:pt x="17537949" y="11811321"/>
                    <a:pt x="17577321" y="11844849"/>
                    <a:pt x="17580369" y="12142791"/>
                  </a:cubicBezTo>
                  <a:cubicBezTo>
                    <a:pt x="17581765" y="12277920"/>
                    <a:pt x="17589639" y="12415714"/>
                    <a:pt x="17564873" y="12549318"/>
                  </a:cubicBezTo>
                  <a:close/>
                </a:path>
              </a:pathLst>
            </a:custGeom>
            <a:solidFill>
              <a:srgbClr val="E3EBFF"/>
            </a:solidFill>
          </p:spPr>
          <p:txBody>
            <a:bodyPr/>
            <a:lstStyle/>
            <a:p>
              <a:endParaRPr lang="en-I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ns2:creationId id="{6BA2F4A3-18A1-3CCD-D186-2306E1C488C4}"/>
              </a:ext>
            </a:extLst>
          </p:cNvPr>
          <p:cNvSpPr txBox="1"/>
          <p:nvPr/>
        </p:nvSpPr>
        <p:spPr>
          <a:xfrm>
            <a:off x="323712" y="2238041"/>
            <a:ext cx="271510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 on labeled fundus images.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 patterns from the images.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Compare predictions with actual results.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accuracy by adjusting filters. </a:t>
            </a:r>
          </a:p>
        </p:txBody>
      </p:sp>
      <p:sp>
        <p:nvSpPr>
          <p:cNvPr id="13" name="TextBox 12">
            <a:extLst>
              <a:ext uri="{FF2B5EF4-FFF2-40B4-BE49-F238E27FC236}">
                <ns2:creationId id="{C00B2691-C362-4887-6F52-2D39FBD81A8D}"/>
              </a:ext>
            </a:extLst>
          </p:cNvPr>
          <p:cNvSpPr txBox="1"/>
          <p:nvPr/>
        </p:nvSpPr>
        <p:spPr>
          <a:xfrm>
            <a:off x="533400" y="1845795"/>
            <a:ext cx="2134925" cy="378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73"/>
              </a:lnSpc>
            </a:pPr>
            <a:r>
              <a:rPr lang="en-US" sz="1200" b="1" spc="-25" dirty="0">
                <a:solidFill>
                  <a:srgbClr val="303F80"/>
                </a:solidFill>
                <a:latin typeface="Times New Roman" panose="02020603050405020304" pitchFamily="18" charset="0"/>
                <a:ea typeface="TT Rounds Condensed Bold"/>
                <a:cs typeface="Times New Roman" panose="02020603050405020304" pitchFamily="18" charset="0"/>
                <a:sym typeface="TT Rounds Condensed Bold"/>
              </a:rPr>
              <a:t>CNN Learning Cycle</a:t>
            </a:r>
          </a:p>
        </p:txBody>
      </p:sp>
      <p:sp>
        <p:nvSpPr>
          <p:cNvPr id="15" name="TextBox 14">
            <a:extLst>
              <a:ext uri="{FF2B5EF4-FFF2-40B4-BE49-F238E27FC236}">
                <ns2:creationId id="{06177E07-047A-594F-1F93-A8D50D6383F9}"/>
              </a:ext>
            </a:extLst>
          </p:cNvPr>
          <p:cNvSpPr txBox="1"/>
          <p:nvPr/>
        </p:nvSpPr>
        <p:spPr>
          <a:xfrm>
            <a:off x="245618" y="4549934"/>
            <a:ext cx="287129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74351" lvl="1" indent="-237176" algn="l">
              <a:buFont typeface="Arial"/>
              <a:buChar char="•"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Automatic Feature Learning  [5]</a:t>
            </a:r>
          </a:p>
          <a:p>
            <a:pPr marL="474351" lvl="1" indent="-237176" algn="l">
              <a:buFont typeface="Arial"/>
              <a:buChar char="•"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Efficient Pattern Recognition [6]</a:t>
            </a:r>
          </a:p>
          <a:p>
            <a:pPr marL="474351" lvl="1" indent="-237176" algn="l">
              <a:buFont typeface="Arial"/>
              <a:buChar char="•"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Superior to FCNs and ANNs [6] [7]</a:t>
            </a:r>
          </a:p>
          <a:p>
            <a:pPr marL="474351" lvl="1" indent="-237176" algn="l">
              <a:buFont typeface="Arial"/>
              <a:buChar char="•"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Better for High-Dimensional Images [7]  </a:t>
            </a:r>
          </a:p>
        </p:txBody>
      </p:sp>
      <p:sp>
        <p:nvSpPr>
          <p:cNvPr id="17" name="TextBox 16">
            <a:extLst>
              <a:ext uri="{FF2B5EF4-FFF2-40B4-BE49-F238E27FC236}">
                <ns2:creationId id="{60E4EE84-ED05-9AC1-6088-9BBF67E4CAE5}"/>
              </a:ext>
            </a:extLst>
          </p:cNvPr>
          <p:cNvSpPr txBox="1"/>
          <p:nvPr/>
        </p:nvSpPr>
        <p:spPr>
          <a:xfrm>
            <a:off x="708328" y="4122348"/>
            <a:ext cx="1785068" cy="378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73"/>
              </a:lnSpc>
            </a:pPr>
            <a:r>
              <a:rPr lang="en-US" sz="1200" b="1" spc="-25" dirty="0">
                <a:solidFill>
                  <a:srgbClr val="303F80"/>
                </a:solidFill>
                <a:latin typeface="Times New Roman" panose="02020603050405020304" pitchFamily="18" charset="0"/>
                <a:ea typeface="TT Rounds Condensed Bold"/>
                <a:cs typeface="Times New Roman" panose="02020603050405020304" pitchFamily="18" charset="0"/>
                <a:sym typeface="TT Rounds Condensed Bold"/>
              </a:rPr>
              <a:t>Why CNN?</a:t>
            </a:r>
          </a:p>
        </p:txBody>
      </p:sp>
      <p:sp>
        <p:nvSpPr>
          <p:cNvPr id="19" name="TextBox 18">
            <a:extLst>
              <a:ext uri="{FF2B5EF4-FFF2-40B4-BE49-F238E27FC236}">
                <ns2:creationId id="{F9D23D95-2200-91EF-F195-4B5C1BA6E1FA}"/>
              </a:ext>
            </a:extLst>
          </p:cNvPr>
          <p:cNvSpPr txBox="1"/>
          <p:nvPr/>
        </p:nvSpPr>
        <p:spPr>
          <a:xfrm>
            <a:off x="4027336" y="5003289"/>
            <a:ext cx="4572000" cy="3947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Fig 1: CNN Work Flow [4]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ns2="http://schemas.microsoft.com/office/drawing/2014/main" xmlns:ns3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ns2:creationId id="{A3D1D34A-C97A-EE07-A585-A503E4AFA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ns2:creationId id="{F38E30A1-552C-17A6-237A-CC8B7159BE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11064" y="337768"/>
            <a:ext cx="8153400" cy="717330"/>
          </a:xfrm>
        </p:spPr>
        <p:txBody>
          <a:bodyPr/>
          <a:lstStyle/>
          <a:p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Project Objectives</a:t>
            </a:r>
          </a:p>
        </p:txBody>
      </p:sp>
      <p:sp>
        <p:nvSpPr>
          <p:cNvPr id="9" name="Slide Number Placeholder 5">
            <a:extLst>
              <a:ext uri="{FF2B5EF4-FFF2-40B4-BE49-F238E27FC236}">
                <ns2:creationId id="{DA5DF384-D7AC-A9E2-227F-BCFB16190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r>
              <a:t>Local-First:** All processing, from embedding to indexing, must happen on the user's silicon.</a:t>
            </a:r>
          </a:p>
          <a:p>
            <a:r>
              <a:t>Interactive Performance:** Achieve sub-50ms P95 latency for hybrid queries.</a:t>
            </a:r>
          </a:p>
          <a:p>
            <a:r>
              <a:t>Format Agnostic:** Support Plain Text, Code, PDF, and Office documents.</a:t>
            </a:r>
          </a:p>
          <a:p>
            <a:r>
              <a:t>Modular Stability:** A decoupled architecture with a central daemon (`mopid`) and lightweight clients.</a:t>
            </a:r>
          </a:p>
        </p:txBody>
      </p:sp>
      <p:sp>
        <p:nvSpPr>
          <p:cNvPr id="7173" name="Rectangle 4">
            <a:extLst>
              <a:ext uri="{FF2B5EF4-FFF2-40B4-BE49-F238E27FC236}">
                <ns2:creationId id="{B402238B-A59C-131A-CD2A-7260884027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6050" y="32099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3:hiddenFill>
                <a:solidFill>
                  <a:schemeClr val="accent1"/>
                </a:solidFill>
              </ns3:hiddenFill>
            </a:ext>
            <a:ext uri="{91240B29-F687-4F45-9708-019B960494DF}">
              <ns3:hiddenLine w="9525">
                <a:solidFill>
                  <a:schemeClr val="tx1"/>
                </a:solidFill>
                <a:miter lim="800000"/>
                <a:headEnd/>
                <a:tailEnd/>
              </ns3:hiddenLine>
            </a:ext>
            <a:ext uri="{AF507438-7753-43E0-B8FC-AC1667EBCBE1}">
              <ns3:hiddenEffects>
                <a:effectLst>
                  <a:outerShdw dist="35921" dir="2700000" algn="ctr" rotWithShape="0">
                    <a:schemeClr val="bg2"/>
                  </a:outerShdw>
                </a:effectLst>
              </ns3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ns2:creationId id="{AE41D7A7-BF36-4C5E-BC73-167C346B571A}"/>
              </a:ext>
            </a:extLst>
          </p:cNvPr>
          <p:cNvSpPr txBox="1">
            <a:spLocks/>
          </p:cNvSpPr>
          <p:nvPr/>
        </p:nvSpPr>
        <p:spPr bwMode="auto">
          <a:xfrm>
            <a:off x="609599" y="1589567"/>
            <a:ext cx="7956331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3:hiddenFill>
                <a:solidFill>
                  <a:srgbClr val="FFFFFF"/>
                </a:solidFill>
              </ns3:hiddenFill>
            </a:ext>
            <a:ext uri="{91240B29-F687-4F45-9708-019B960494DF}">
              <ns3:hiddenLine w="9525">
                <a:solidFill>
                  <a:srgbClr val="000000"/>
                </a:solidFill>
                <a:miter lim="800000"/>
                <a:headEnd/>
                <a:tailEnd/>
              </ns3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239316" indent="-239316" algn="l" rtl="0" eaLnBrk="0" fontAlgn="base" hangingPunct="0">
              <a:spcBef>
                <a:spcPts val="525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1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9822" indent="-204788" algn="l" rtl="0" eaLnBrk="0" fontAlgn="base" hangingPunct="0">
              <a:spcBef>
                <a:spcPts val="413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145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17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-17145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SzPct val="75000"/>
              <a:buFont typeface="Wingdings" panose="05000000000000000000" pitchFamily="2" charset="2"/>
              <a:buChar char="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17145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C4652D"/>
              </a:buClr>
              <a:buSzPct val="65000"/>
              <a:buFont typeface="Wingdings" panose="05000000000000000000" pitchFamily="2" charset="2"/>
              <a:buChar char="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77340" indent="-17145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sz="13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83080" indent="-17145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sz="13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88820" indent="-17145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sz="13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7145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sz="13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ns2:creationId id="{CD716596-F33F-40B7-9896-945F6684D1E1}"/>
              </a:ext>
            </a:extLst>
          </p:cNvPr>
          <p:cNvSpPr txBox="1">
            <a:spLocks/>
          </p:cNvSpPr>
          <p:nvPr/>
        </p:nvSpPr>
        <p:spPr>
          <a:xfrm>
            <a:off x="4844901" y="1589567"/>
            <a:ext cx="3886200" cy="4572000"/>
          </a:xfrm>
          <a:prstGeom prst="rect">
            <a:avLst/>
          </a:prstGeom>
        </p:spPr>
        <p:txBody>
          <a:bodyPr>
            <a:normAutofit/>
          </a:bodyPr>
          <a:lstStyle>
            <a:lvl1pPr marL="239316" indent="-239316" algn="l" rtl="0" eaLnBrk="0" fontAlgn="base" hangingPunct="0">
              <a:spcBef>
                <a:spcPts val="525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1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9822" indent="-204788" algn="l" rtl="0" eaLnBrk="0" fontAlgn="base" hangingPunct="0">
              <a:spcBef>
                <a:spcPts val="413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145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17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-17145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SzPct val="75000"/>
              <a:buFont typeface="Wingdings" panose="05000000000000000000" pitchFamily="2" charset="2"/>
              <a:buChar char="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17145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C4652D"/>
              </a:buClr>
              <a:buSzPct val="65000"/>
              <a:buFont typeface="Wingdings" panose="05000000000000000000" pitchFamily="2" charset="2"/>
              <a:buChar char="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77340" indent="-17145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sz="13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83080" indent="-17145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sz="13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88820" indent="-17145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sz="13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7145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sz="13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ns2:creationId id="{04031991-6E99-0755-AEFC-D403F35352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678" y="1589567"/>
            <a:ext cx="8279423" cy="46473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ns2:creationId id="{E8024024-0CA3-15EE-9E24-E52FC5CA09EC}"/>
              </a:ext>
            </a:extLst>
          </p:cNvPr>
          <p:cNvSpPr txBox="1"/>
          <p:nvPr/>
        </p:nvSpPr>
        <p:spPr>
          <a:xfrm>
            <a:off x="3327622" y="6310543"/>
            <a:ext cx="323220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 2: CNN for </a:t>
            </a:r>
            <a:r>
              <a:rPr lang="en-IN" sz="1000" b="1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Glucoma</a:t>
            </a:r>
            <a:r>
              <a:rPr lang="en-IN" sz="10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detection [8]</a:t>
            </a:r>
          </a:p>
        </p:txBody>
      </p:sp>
    </p:spTree>
    <p:extLst>
      <p:ext uri="{BB962C8B-B14F-4D97-AF65-F5344CB8AC3E}">
        <ns5:creationId val="1753634402"/>
      </p:ext>
    </p:extLst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D1868C42-0F8C-2BB7-64E2-A5F5AA06A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Proposed Solution &amp; Innovation</a:t>
            </a:r>
          </a:p>
        </p:txBody>
      </p:sp>
      <p:sp>
        <p:nvSpPr>
          <p:cNvPr id="3" name="Content Placeholder 2">
            <a:extLst>
              <a:ext uri="{FF2B5EF4-FFF2-40B4-BE49-F238E27FC236}">
                <ns2:creationId id="{8FE54312-A8BB-50F5-5B18-9D5A6FD43F3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Hybrid Retrieval Engine:** Combines the precision of Tantivy (BM25) with the recall of Vector Search (HNSW).</a:t>
            </a:r>
          </a:p>
          <a:p>
            <a:r>
              <a:t>Reciprocal Rank Fusion (RRF):** A mathematically robust way to merge disparate search scores into a single ranked list.</a:t>
            </a:r>
          </a:p>
          <a:p>
            <a:r>
              <a:t>Semantic Chunking:** Unlike naive fixed-size splitting, mopi understands file structure (paragraphs, headings) to preserve context.</a:t>
            </a:r>
          </a:p>
        </p:txBody>
      </p:sp>
    </p:spTree>
    <p:extLst>
      <p:ext uri="{BB962C8B-B14F-4D97-AF65-F5344CB8AC3E}">
        <ns3:creationId val="3915115456"/>
      </p:ext>
    </p:extLst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>
          <a:extLst>
            <a:ext uri="{FF2B5EF4-FFF2-40B4-BE49-F238E27FC236}">
              <ns2:creationId id="{E283EF43-CEB9-FD6E-2D2B-46023DF3E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F176CD87-4A37-4B48-EBE8-69C7A0EBF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Methodology (Technology Stack)</a:t>
            </a:r>
          </a:p>
        </p:txBody>
      </p:sp>
      <p:sp>
        <p:nvSpPr>
          <p:cNvPr id="3" name="Content Placeholder 2">
            <a:extLst>
              <a:ext uri="{FF2B5EF4-FFF2-40B4-BE49-F238E27FC236}">
                <ns2:creationId id="{8C066AE4-0738-1D79-89F7-6FAABB904F6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Language:** Rust (Performance, Memory Safety).</a:t>
            </a:r>
          </a:p>
          <a:p>
            <a:r>
              <a:t>Deep Learning:** ONNX Runtime via **FastEmbed-RS**.</a:t>
            </a:r>
          </a:p>
          <a:p>
            <a:r>
              <a:t>Lexical Index:** Tantivy.</a:t>
            </a:r>
          </a:p>
          <a:p>
            <a:r>
              <a:t>Metadata:** SQLite.</a:t>
            </a:r>
          </a:p>
          <a:p>
            <a:r>
              <a:t>Client/Server:** Unix Domain Sockets (IPC) with length-delimited binary framing.</a:t>
            </a:r>
          </a:p>
        </p:txBody>
      </p:sp>
    </p:spTree>
    <p:extLst>
      <p:ext uri="{BB962C8B-B14F-4D97-AF65-F5344CB8AC3E}">
        <ns3:creationId val="3753089818"/>
      </p:ext>
    </p:extLst>
  </p:cSld>
  <p:clrMapOvr>
    <a:masterClrMapping/>
  </p:clrMapOvr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D1868C42-0F8C-2BB7-64E2-A5F5AA06A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System Architecture /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ns2:creationId id="{8FE54312-A8BB-50F5-5B18-9D5A6FD43F3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</p:txBody>
      </p:sp>
    </p:spTree>
    <p:extLst>
      <p:ext uri="{BB962C8B-B14F-4D97-AF65-F5344CB8AC3E}">
        <ns3:creationId val="3915115456"/>
      </p:ext>
    </p:extLst>
  </p:cSld>
  <p:clrMapOvr>
    <a:masterClrMapping/>
  </p:clrMapOvr>
</p:sld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D1868C42-0F8C-2BB7-64E2-A5F5AA06A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ns2:creationId id="{8FE54312-A8BB-50F5-5B18-9D5A6FD43F3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Model Choice:** `all-MiniLM-L6-v2` (384 dimensions).</a:t>
            </a:r>
          </a:p>
          <a:p>
            <a:r>
              <a:t>Optimization:</a:t>
            </a:r>
          </a:p>
          <a:p>
            <a:r>
              <a:t>Quantization:** `INT8` weights for 4x size reduction.</a:t>
            </a:r>
          </a:p>
          <a:p>
            <a:r>
              <a:t>Hardware Acceleration:** AVX-512 and SIMD utilization.</a:t>
            </a:r>
          </a:p>
          <a:p>
            <a:r>
              <a:t>Concurrency:** Dedicated worker pools for extraction and embedding to prevent blocking the query path.</a:t>
            </a:r>
          </a:p>
        </p:txBody>
      </p:sp>
    </p:spTree>
    <p:extLst>
      <p:ext uri="{BB962C8B-B14F-4D97-AF65-F5344CB8AC3E}">
        <ns3:creationId val="3915115456"/>
      </p:ext>
    </p:extLst>
  </p:cSld>
  <p:clrMapOvr>
    <a:masterClrMapping/>
  </p:clrMapOvr>
</p:sld>
</file>

<file path=ppt/slides/slide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D1868C42-0F8C-2BB7-64E2-A5F5AA06A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Results /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ns2:creationId id="{8FE54312-A8BB-50F5-5B18-9D5A6FD43F3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Latency:</a:t>
            </a:r>
          </a:p>
          <a:p>
            <a:r>
              <a:t>Query Embedding: **~15ms</a:t>
            </a:r>
          </a:p>
          <a:p>
            <a:r>
              <a:t>Search &amp; Fusion: **~15ms</a:t>
            </a:r>
          </a:p>
          <a:p>
            <a:r>
              <a:t>Total Interactive Loop: **~35ms</a:t>
            </a:r>
          </a:p>
          <a:p>
            <a:r>
              <a:t>UX:** Enabled a launcher-style GUI (`kiwi`) that updates semantically as the user types.</a:t>
            </a:r>
          </a:p>
          <a:p>
            <a:r>
              <a:t>Accuracy:** Significant recall improvement over keyword-only systems for conceptual queries (e.g., "how to setup auth" finding `README.md`).</a:t>
            </a:r>
          </a:p>
        </p:txBody>
      </p:sp>
    </p:spTree>
    <p:extLst>
      <p:ext uri="{BB962C8B-B14F-4D97-AF65-F5344CB8AC3E}">
        <ns3:creationId val="3915115456"/>
      </p:ext>
    </p:extLst>
  </p:cSld>
  <p:clrMapOvr>
    <a:masterClrMapping/>
  </p:clrMapOvr>
</p:sld>
</file>

<file path=ppt/slides/slide1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D1868C42-0F8C-2BB7-64E2-A5F5AA06A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ns2:creationId id="{8FE54312-A8BB-50F5-5B18-9D5A6FD43F3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mopi** proves that high-quality semantic search does not require the cloud.</a:t>
            </a:r>
          </a:p>
          <a:p>
            <a:r>
              <a:t>By optimizing the inference stack and using hybrid ranking, we provide a search experience that is both private and faster than remote alternatives.</a:t>
            </a:r>
          </a:p>
          <a:p>
            <a:r>
              <a:t>Future:** Integration of cross-encoders for reranking and hardware-specific kernels (Metal/CUDA).</a:t>
            </a:r>
          </a:p>
        </p:txBody>
      </p:sp>
    </p:spTree>
    <p:extLst>
      <p:ext uri="{BB962C8B-B14F-4D97-AF65-F5344CB8AC3E}">
        <ns3:creationId val="3915115456"/>
      </p:ext>
    </p:extLst>
  </p:cSld>
  <p:clrMapOvr>
    <a:masterClrMapping/>
  </p:clrMapOvr>
</p:sld>
</file>

<file path=ppt/slides/slide1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F5B6414D-32FD-E9C3-BE64-3878FACCE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ns2:creationId id="{2928D919-961D-26D5-74E9-336AFA1BC6B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95300" y="1520686"/>
            <a:ext cx="8153400" cy="5108713"/>
          </a:xfrm>
        </p:spPr>
        <p:txBody>
          <a:bodyPr/>
          <a:lstStyle/>
          <a:p>
            <a:r>
              <a:t>FastEmbed-RS:** [https://github.com/qdrant/fastembed](https://github.com/qdrant/fastembed)</a:t>
            </a:r>
          </a:p>
          <a:p>
            <a:r>
              <a:t>Tantivy:** [https://github.com/quickwit-oss/tantivy](https://github.com/quickwit-oss/tantivy)</a:t>
            </a:r>
          </a:p>
          <a:p>
            <a:r>
              <a:t>Marp CLI:** [https://marp.app/](https://marp.app/)</a:t>
            </a:r>
          </a:p>
          <a:p>
            <a:r>
              <a:t>ONNX Runtime:** [https://onnxruntime.ai/](https://onnxruntime.ai/)</a:t>
            </a:r>
          </a:p>
        </p:txBody>
      </p:sp>
    </p:spTree>
    <p:extLst>
      <p:ext uri="{BB962C8B-B14F-4D97-AF65-F5344CB8AC3E}">
        <ns3:creationId val="4052810581"/>
      </p:ext>
    </p:extLst>
  </p:cSld>
  <p:clrMapOvr>
    <a:masterClrMapping/>
  </p:clrMapOvr>
</p:sld>
</file>

<file path=ppt/slides/slide12.xml><?xml version="1.0" encoding="utf-8"?>
<p:sld xmlns:a="http://schemas.openxmlformats.org/drawingml/2006/main" xmlns:ns2="http://schemas.microsoft.com/office/drawing/2014/main" xmlns:ns3="http://schemas.microsoft.com/office/drawing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ns2:creationId id="{08C84386-2736-1BB6-2D9A-13D993FAB1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3294856"/>
            <a:ext cx="7886700" cy="706438"/>
          </a:xfrm>
        </p:spPr>
        <p:txBody>
          <a:bodyPr/>
          <a:lstStyle/>
          <a:p>
            <a:pPr algn="ctr"/>
            <a:r>
              <a:rPr lang="en-US" alt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9" name="Slide Number Placeholder 5">
            <a:extLst>
              <a:ext uri="{FF2B5EF4-FFF2-40B4-BE49-F238E27FC236}">
                <ns2:creationId id="{53788318-D069-3719-CD59-E056C8782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r>
              <a:t>Questions?</a:t>
            </a:r>
          </a:p>
          <a:p>
            <a:r>
              <a:t>contact@opencode.local</a:t>
            </a:r>
          </a:p>
        </p:txBody>
      </p:sp>
      <p:sp>
        <p:nvSpPr>
          <p:cNvPr id="9221" name="Rectangle 4">
            <a:extLst>
              <a:ext uri="{FF2B5EF4-FFF2-40B4-BE49-F238E27FC236}">
                <ns2:creationId id="{D80DBD17-B36D-82AA-13CF-32C9BC24AE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6050" y="32099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3:hiddenFill>
                <a:solidFill>
                  <a:schemeClr val="accent1"/>
                </a:solidFill>
              </ns3:hiddenFill>
            </a:ext>
            <a:ext uri="{91240B29-F687-4F45-9708-019B960494DF}">
              <ns3:hiddenLine w="9525">
                <a:solidFill>
                  <a:schemeClr val="tx1"/>
                </a:solidFill>
                <a:miter lim="800000"/>
                <a:headEnd/>
                <a:tailEnd/>
              </ns3:hiddenLine>
            </a:ext>
            <a:ext uri="{AF507438-7753-43E0-B8FC-AC1667EBCBE1}">
              <ns3:hiddenEffects>
                <a:effectLst>
                  <a:outerShdw dist="35921" dir="2700000" algn="ctr" rotWithShape="0">
                    <a:schemeClr val="bg2"/>
                  </a:outerShdw>
                </a:effectLst>
              </ns3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IN" altLang="en-US"/>
          </a:p>
        </p:txBody>
      </p:sp>
      <p:sp>
        <p:nvSpPr>
          <p:cNvPr id="9222" name="Rectangle 6">
            <a:extLst>
              <a:ext uri="{FF2B5EF4-FFF2-40B4-BE49-F238E27FC236}">
                <ns2:creationId id="{22CB920D-E7DB-B4DA-51A6-2FA04BB659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5867400"/>
            <a:ext cx="71628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3:hiddenFill>
                <a:solidFill>
                  <a:schemeClr val="accent1"/>
                </a:solidFill>
              </ns3:hiddenFill>
            </a:ext>
            <a:ext uri="{91240B29-F687-4F45-9708-019B960494DF}">
              <ns3:hiddenLine w="9525">
                <a:solidFill>
                  <a:schemeClr val="tx1"/>
                </a:solidFill>
                <a:miter lim="800000"/>
                <a:headEnd/>
                <a:tailEnd/>
              </ns3:hiddenLine>
            </a:ext>
            <a:ext uri="{AF507438-7753-43E0-B8FC-AC1667EBCBE1}">
              <ns3:hiddenEffects>
                <a:effectLst>
                  <a:outerShdw dist="35921" dir="2700000" algn="ctr" rotWithShape="0">
                    <a:schemeClr val="bg2"/>
                  </a:outerShdw>
                </a:effectLst>
              </ns3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endParaRPr lang="en-US" altLang="en-US" sz="2800" baseline="-2500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1_AcademicPresentation3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18315</TotalTime>
  <Words>474</Words>
  <Application>Microsoft Office PowerPoint</Application>
  <PresentationFormat>On-screen Show (4:3)</PresentationFormat>
  <Paragraphs>56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Times New Roman</vt:lpstr>
      <vt:lpstr>Tw Cen MT</vt:lpstr>
      <vt:lpstr>Wingdings</vt:lpstr>
      <vt:lpstr>Wingdings 2</vt:lpstr>
      <vt:lpstr>1_AcademicPresentation3</vt:lpstr>
      <vt:lpstr>PowerPoint Presentation</vt:lpstr>
      <vt:lpstr>Table of Content</vt:lpstr>
      <vt:lpstr>Sample Slide</vt:lpstr>
      <vt:lpstr>Sample Slide</vt:lpstr>
      <vt:lpstr>Title of the Slide</vt:lpstr>
      <vt:lpstr>Title of the slide</vt:lpstr>
      <vt:lpstr>References [Sample Slide]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sahil.adm@mietjammu.in</dc:creator>
  <cp:lastModifiedBy>Saurabh Sharma</cp:lastModifiedBy>
  <cp:revision>289</cp:revision>
  <dcterms:created xsi:type="dcterms:W3CDTF">2020-08-09T07:27:56Z</dcterms:created>
  <dcterms:modified xsi:type="dcterms:W3CDTF">2025-05-21T05:08:22Z</dcterms:modified>
</cp:coreProperties>
</file>